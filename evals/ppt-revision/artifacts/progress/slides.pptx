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模拟试填</c:v>
                </c:pt>
              </c:strCache>
            </c:strRef>
          </c:tx>
          <c:spPr>
            <a:solidFill>
              <a:srgbClr val="176B76"/>
            </a:solidFill>
          </c:spPr>
          <c:cat>
            <c:strRef>
              <c:f>Sheet1!$A$2:$A$3</c:f>
              <c:strCache>
                <c:ptCount val="2"/>
                <c:pt idx="0">
                  <c:v>完整</c:v>
                </c:pt>
                <c:pt idx="1">
                  <c:v>待补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</c:v>
                </c:pt>
                <c:pt idx="1">
                  <c:v>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份数（合成）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700">
          <a:latin typeface="Microsoft YaHe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这是一份合成进展示例。我们想研究的不是学生是否喜欢反馈，而是能否讲清自己的修改理由。当前只准备了问卷和试填流程，没有可以宣称的课堂干预结果。接下来需要先解决测量问题，再决定实施安排。</a:t>
            </a:r>
          </a:p>
          <a:p/>
          <a:p>
            <a:r>
              <a:t>来源：合成演示材料 · 问题、已完成、计划</a:t>
            </a:r>
          </a:p>
          <a:p>
            <a:r>
              <a:t>预计讲解：60秒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这里用十二份完整、八份待补的假数据展示进度。柱形高低只告诉我们资料收集状态，不能解释为学习效果。正式研究还需要明确样本来源、评分结局与缺失资料处理。请不要将这张演示图当成真实项目的结果。</a:t>
            </a:r>
          </a:p>
          <a:p/>
          <a:p>
            <a:r>
              <a:t>来源：合成演示材料 · 已完成</a:t>
            </a:r>
          </a:p>
          <a:p>
            <a:r>
              <a:t>预计讲解：60秒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计划把原作、收到的反馈、修改后的作品与学生的解释放在同一条记录中。这样才能区分是否做了表面修改和是否理解修改依据。流程本身还不能证明反馈有效；我们需要在组会上先讨论评分标准，并决定正式实施条件。</a:t>
            </a:r>
          </a:p>
          <a:p/>
          <a:p>
            <a:r>
              <a:t>来源：合成演示材料 · 已完成、计划</a:t>
            </a:r>
          </a:p>
          <a:p>
            <a:r>
              <a:t>预计讲解：60秒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表把待决事项集中起来。问卷完成并不代表表现测量已经可用。我的建议是先讨论什么算有依据的修改，再决定是否扩大试填。组会需要给出的帮助，是明确评分规程中的关键判断，而不是要求在没有实施之前报告一个效果。</a:t>
            </a:r>
          </a:p>
          <a:p/>
          <a:p>
            <a:r>
              <a:t>来源：合成演示材料 · 计划</a:t>
            </a:r>
          </a:p>
          <a:p>
            <a:r>
              <a:t>预计讲解：60秒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页只演示如何把估计和区间同时保留。这里的两组数值是专门构造的测试数据，不是重新做的分析。即使真实研究得到这样的区间，也不能只因为区间包含零就宣布没有效果，或根据两条区间重叠判断效果相等。</a:t>
            </a:r>
          </a:p>
          <a:p/>
          <a:p>
            <a:r>
              <a:t>来源：合成演示材料 · 图表演示</a:t>
            </a:r>
          </a:p>
          <a:p>
            <a:r>
              <a:t>预计讲解：60秒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S01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项目尚处于工具与流程准备阶段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S01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需要区分学生愿意修改，与实际能够解释修改理由。</a:t>
            </a:r>
          </a:p>
        </p:txBody>
      </p:sp>
      <p:sp>
        <p:nvSpPr>
          <p:cNvPr id="5" name="edu:body" descr="{&quot;edu_ppt&quot;: {&quot;id&quot;: &quot;S01/body/0&quot;}}"/>
          <p:cNvSpPr txBox="1"/>
          <p:nvPr/>
        </p:nvSpPr>
        <p:spPr>
          <a:xfrm>
            <a:off x="670559" y="1657350"/>
            <a:ext cx="10850879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研究问题：逐条反馈是否帮助学生说明修改理由？</a:t>
            </a:r>
          </a:p>
        </p:txBody>
      </p:sp>
      <p:sp>
        <p:nvSpPr>
          <p:cNvPr id="6" name="edu:body" descr="{&quot;edu_ppt&quot;: {&quot;id&quot;: &quot;S01/body/1&quot;}}"/>
          <p:cNvSpPr txBox="1"/>
          <p:nvPr/>
        </p:nvSpPr>
        <p:spPr>
          <a:xfrm>
            <a:off x="670559" y="2306574"/>
            <a:ext cx="10850879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已经完成：问卷设计与模拟试填。</a:t>
            </a:r>
          </a:p>
        </p:txBody>
      </p:sp>
      <p:sp>
        <p:nvSpPr>
          <p:cNvPr id="7" name="edu:body" descr="{&quot;edu_ppt&quot;: {&quot;id&quot;: &quot;S01/body/2&quot;}}"/>
          <p:cNvSpPr txBox="1"/>
          <p:nvPr/>
        </p:nvSpPr>
        <p:spPr>
          <a:xfrm>
            <a:off x="670559" y="2955798"/>
            <a:ext cx="10850879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尚未实施：正式招募、课堂比较和效果分析。</a:t>
            </a:r>
          </a:p>
        </p:txBody>
      </p:sp>
      <p:sp>
        <p:nvSpPr>
          <p:cNvPr id="8" name="edu:source" descr="{&quot;edu_ppt&quot;: {&quot;id&quot;: &quot;S01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合成演示材料 · 问题、已完成、计划</a:t>
            </a:r>
          </a:p>
        </p:txBody>
      </p:sp>
      <p:sp>
        <p:nvSpPr>
          <p:cNvPr id="9" name="edu:number" descr="{&quot;edu_ppt&quot;: {&quot;id&quot;: &quot;S01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S02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试填进度不是教学效果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S02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合成计数用于展示收集进度，不代表参与者获益。</a:t>
            </a:r>
          </a:p>
        </p:txBody>
      </p:sp>
      <p:graphicFrame>
        <p:nvGraphicFramePr>
          <p:cNvPr id="5" name="edu:chart" descr="{&quot;edu_ppt&quot;: {&quot;id&quot;: &quot;S02/visual/chart&quot;, &quot;series_colors&quot;: [&quot;176B76&quot;]}}"/>
          <p:cNvGraphicFramePr>
            <a:graphicFrameLocks noGrp="1"/>
          </p:cNvGraphicFramePr>
          <p:nvPr/>
        </p:nvGraphicFramePr>
        <p:xfrm>
          <a:off x="670559" y="1657350"/>
          <a:ext cx="10850879" cy="390448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edu:caption" descr="{&quot;edu_ppt&quot;: {&quot;id&quot;: &quot;S02/visual/caption&quot;}}"/>
          <p:cNvSpPr txBox="1"/>
          <p:nvPr/>
        </p:nvSpPr>
        <p:spPr>
          <a:xfrm>
            <a:off x="670559" y="5580125"/>
            <a:ext cx="10850879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行政进度计数；尚未开展课堂比较。</a:t>
            </a:r>
          </a:p>
        </p:txBody>
      </p:sp>
      <p:sp>
        <p:nvSpPr>
          <p:cNvPr id="7" name="edu:source" descr="{&quot;edu_ppt&quot;: {&quot;id&quot;: &quot;S02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合成演示材料 · 已完成</a:t>
            </a:r>
          </a:p>
        </p:txBody>
      </p:sp>
      <p:sp>
        <p:nvSpPr>
          <p:cNvPr id="8" name="edu:number" descr="{&quot;edu_ppt&quot;: {&quot;id&quot;: &quot;S02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S03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拟用流程让修改理由可被观察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S03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这是待讨论的研究流程，尚未在课堂实施。</a:t>
            </a:r>
          </a:p>
        </p:txBody>
      </p:sp>
      <p:sp>
        <p:nvSpPr>
          <p:cNvPr id="5" name="edu:body" descr="{&quot;edu_ppt&quot;: {&quot;id&quot;: &quot;S03/body/0&quot;}}"/>
          <p:cNvSpPr txBox="1"/>
          <p:nvPr/>
        </p:nvSpPr>
        <p:spPr>
          <a:xfrm>
            <a:off x="670559" y="1657350"/>
            <a:ext cx="3906316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先记录原作和反馈。</a:t>
            </a:r>
          </a:p>
        </p:txBody>
      </p:sp>
      <p:sp>
        <p:nvSpPr>
          <p:cNvPr id="6" name="edu:body" descr="{&quot;edu_ppt&quot;: {&quot;id&quot;: &quot;S03/body/1&quot;}}"/>
          <p:cNvSpPr txBox="1"/>
          <p:nvPr/>
        </p:nvSpPr>
        <p:spPr>
          <a:xfrm>
            <a:off x="670559" y="2306574"/>
            <a:ext cx="3906316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再保存修改内容与理由。</a:t>
            </a:r>
          </a:p>
        </p:txBody>
      </p:sp>
      <p:sp>
        <p:nvSpPr>
          <p:cNvPr id="7" name="edu:body" descr="{&quot;edu_ppt&quot;: {&quot;id&quot;: &quot;S03/body/2&quot;}}"/>
          <p:cNvSpPr txBox="1"/>
          <p:nvPr/>
        </p:nvSpPr>
        <p:spPr>
          <a:xfrm>
            <a:off x="670559" y="2955798"/>
            <a:ext cx="3906316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评分规程与实施安排待定。</a:t>
            </a:r>
          </a:p>
        </p:txBody>
      </p:sp>
      <p:sp>
        <p:nvSpPr>
          <p:cNvPr id="8" name="edu:process" descr="{&quot;edu_ppt&quot;: {&quot;id&quot;: &quot;S03/visual/node/0&quot;}}"/>
          <p:cNvSpPr/>
          <p:nvPr/>
        </p:nvSpPr>
        <p:spPr>
          <a:xfrm>
            <a:off x="5010911" y="1657350"/>
            <a:ext cx="6510527" cy="804672"/>
          </a:xfrm>
          <a:prstGeom prst="roundRect">
            <a:avLst/>
          </a:prstGeom>
          <a:solidFill>
            <a:srgbClr val="EA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" rIns="32004" tIns="22860" bIns="2286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原作</a:t>
            </a:r>
          </a:p>
        </p:txBody>
      </p:sp>
      <p:sp>
        <p:nvSpPr>
          <p:cNvPr id="9" name="edu:process" descr="{&quot;edu_ppt&quot;: {&quot;id&quot;: &quot;S03/visual/node/1&quot;}}"/>
          <p:cNvSpPr/>
          <p:nvPr/>
        </p:nvSpPr>
        <p:spPr>
          <a:xfrm>
            <a:off x="5010911" y="2754630"/>
            <a:ext cx="6510527" cy="804672"/>
          </a:xfrm>
          <a:prstGeom prst="roundRect">
            <a:avLst/>
          </a:prstGeom>
          <a:solidFill>
            <a:srgbClr val="EA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" rIns="32004" tIns="22860" bIns="2286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反馈</a:t>
            </a:r>
          </a:p>
        </p:txBody>
      </p:sp>
      <p:sp>
        <p:nvSpPr>
          <p:cNvPr id="10" name="edu:process" descr="{&quot;edu_ppt&quot;: {&quot;id&quot;: &quot;S03/visual/node/2&quot;}}"/>
          <p:cNvSpPr/>
          <p:nvPr/>
        </p:nvSpPr>
        <p:spPr>
          <a:xfrm>
            <a:off x="5010911" y="3851910"/>
            <a:ext cx="6510527" cy="804672"/>
          </a:xfrm>
          <a:prstGeom prst="roundRect">
            <a:avLst/>
          </a:prstGeom>
          <a:solidFill>
            <a:srgbClr val="EA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" rIns="32004" tIns="22860" bIns="2286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修改</a:t>
            </a:r>
          </a:p>
        </p:txBody>
      </p:sp>
      <p:sp>
        <p:nvSpPr>
          <p:cNvPr id="11" name="edu:process" descr="{&quot;edu_ppt&quot;: {&quot;id&quot;: &quot;S03/visual/node/3&quot;}}"/>
          <p:cNvSpPr/>
          <p:nvPr/>
        </p:nvSpPr>
        <p:spPr>
          <a:xfrm>
            <a:off x="5010911" y="4949190"/>
            <a:ext cx="6510527" cy="804672"/>
          </a:xfrm>
          <a:prstGeom prst="roundRect">
            <a:avLst/>
          </a:prstGeom>
          <a:solidFill>
            <a:srgbClr val="EA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" rIns="32004" tIns="22860" bIns="2286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解释修改理由</a:t>
            </a:r>
          </a:p>
        </p:txBody>
      </p:sp>
      <p:cxnSp>
        <p:nvCxnSpPr>
          <p:cNvPr id="12" name="edu:arrow" descr="{&quot;edu_ppt&quot;: {&quot;id&quot;: &quot;S03/visual/edge/0&quot;, &quot;start&quot;: &quot;visual/node/0&quot;, &quot;end&quot;: &quot;visual/node/1&quot;}}"/>
          <p:cNvCxnSpPr>
            <a:stCxn id="8" idx="2"/>
            <a:endCxn id="9" idx="0"/>
          </p:cNvCxnSpPr>
          <p:nvPr/>
        </p:nvCxnSpPr>
        <p:spPr>
          <a:xfrm>
            <a:off x="8266174" y="2462022"/>
            <a:ext cx="0" cy="292608"/>
          </a:xfrm>
          <a:prstGeom prst="line">
            <a:avLst/>
          </a:prstGeom>
          <a:ln w="25400">
            <a:solidFill>
              <a:srgbClr val="176B7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du:arrow" descr="{&quot;edu_ppt&quot;: {&quot;id&quot;: &quot;S03/visual/edge/1&quot;, &quot;start&quot;: &quot;visual/node/1&quot;, &quot;end&quot;: &quot;visual/node/2&quot;}}"/>
          <p:cNvCxnSpPr>
            <a:stCxn id="9" idx="2"/>
            <a:endCxn id="10" idx="0"/>
          </p:cNvCxnSpPr>
          <p:nvPr/>
        </p:nvCxnSpPr>
        <p:spPr>
          <a:xfrm>
            <a:off x="8266174" y="3559302"/>
            <a:ext cx="0" cy="292608"/>
          </a:xfrm>
          <a:prstGeom prst="line">
            <a:avLst/>
          </a:prstGeom>
          <a:ln w="25400">
            <a:solidFill>
              <a:srgbClr val="176B7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du:arrow" descr="{&quot;edu_ppt&quot;: {&quot;id&quot;: &quot;S03/visual/edge/2&quot;, &quot;start&quot;: &quot;visual/node/2&quot;, &quot;end&quot;: &quot;visual/node/3&quot;}}"/>
          <p:cNvCxnSpPr>
            <a:stCxn id="10" idx="2"/>
            <a:endCxn id="11" idx="0"/>
          </p:cNvCxnSpPr>
          <p:nvPr/>
        </p:nvCxnSpPr>
        <p:spPr>
          <a:xfrm>
            <a:off x="8266174" y="4656582"/>
            <a:ext cx="0" cy="292608"/>
          </a:xfrm>
          <a:prstGeom prst="line">
            <a:avLst/>
          </a:prstGeom>
          <a:ln w="25400">
            <a:solidFill>
              <a:srgbClr val="176B7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u:source" descr="{&quot;edu_ppt&quot;: {&quot;id&quot;: &quot;S03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合成演示材料 · 已完成、计划</a:t>
            </a:r>
          </a:p>
        </p:txBody>
      </p:sp>
      <p:sp>
        <p:nvSpPr>
          <p:cNvPr id="16" name="edu:number" descr="{&quot;edu_ppt&quot;: {&quot;id&quot;: &quot;S03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S04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先决定评分规程，再扩展实施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S04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当前最重要的决定是怎样识别有依据的修改。</a:t>
            </a:r>
          </a:p>
        </p:txBody>
      </p:sp>
      <p:graphicFrame>
        <p:nvGraphicFramePr>
          <p:cNvPr id="5" name="edu:table" descr="{&quot;edu_ppt&quot;: {&quot;id&quot;: &quot;S04/visual/table&quot;}}"/>
          <p:cNvGraphicFramePr>
            <a:graphicFrameLocks noGrp="1"/>
          </p:cNvGraphicFramePr>
          <p:nvPr/>
        </p:nvGraphicFramePr>
        <p:xfrm>
          <a:off x="670559" y="1657350"/>
          <a:ext cx="10850877" cy="3904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6959"/>
                <a:gridCol w="3616959"/>
                <a:gridCol w="3616959"/>
              </a:tblGrid>
              <a:tr h="976121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事项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当前状态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下一步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</a:tr>
              <a:tr h="976121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问卷与试填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模拟完成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核对理解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</a:tr>
              <a:tr h="976121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修改评分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规程未定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讨论标准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976124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课堂比较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尚未实施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确定设计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</a:tr>
            </a:tbl>
          </a:graphicData>
        </a:graphic>
      </p:graphicFrame>
      <p:sp>
        <p:nvSpPr>
          <p:cNvPr id="6" name="edu:caption" descr="{&quot;edu_ppt&quot;: {&quot;id&quot;: &quot;S04/visual/caption&quot;}}"/>
          <p:cNvSpPr txBox="1"/>
          <p:nvPr/>
        </p:nvSpPr>
        <p:spPr>
          <a:xfrm>
            <a:off x="670559" y="5580125"/>
            <a:ext cx="10850879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全部为合成任务状态；不补造正式样本和实施进度。</a:t>
            </a:r>
          </a:p>
        </p:txBody>
      </p:sp>
      <p:sp>
        <p:nvSpPr>
          <p:cNvPr id="7" name="edu:source" descr="{&quot;edu_ppt&quot;: {&quot;id&quot;: &quot;S04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合成演示材料 · 计划</a:t>
            </a:r>
          </a:p>
        </p:txBody>
      </p:sp>
      <p:sp>
        <p:nvSpPr>
          <p:cNvPr id="8" name="edu:number" descr="{&quot;edu_ppt&quot;: {&quot;id&quot;: &quot;S04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S05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区间图演示：不从未显著推出等效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S05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以下数值纯为格式测试，不属于项目结果。</a:t>
            </a:r>
          </a:p>
        </p:txBody>
      </p:sp>
      <p:cxnSp>
        <p:nvCxnSpPr>
          <p:cNvPr id="5" name="edu:line" descr="{&quot;edu_ppt&quot;: {&quot;id&quot;: &quot;S05/visual/reference&quot;, &quot;value&quot;: 0}}"/>
          <p:cNvCxnSpPr/>
          <p:nvPr/>
        </p:nvCxnSpPr>
        <p:spPr>
          <a:xfrm>
            <a:off x="5191759" y="1657350"/>
            <a:ext cx="0" cy="1645920"/>
          </a:xfrm>
          <a:prstGeom prst="line">
            <a:avLst/>
          </a:prstGeom>
          <a:ln w="12700">
            <a:solidFill>
              <a:srgbClr val="5164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du:line" descr="{&quot;edu_ppt&quot;: {&quot;id&quot;: &quot;S05/visual/axis-line&quot;, &quot;range&quot;: [-0.3, 0.6], &quot;scale&quot;: &quot;linear&quot;, &quot;unit&quot;: &quot;合成估计值&quot;}}"/>
          <p:cNvCxnSpPr/>
          <p:nvPr/>
        </p:nvCxnSpPr>
        <p:spPr>
          <a:xfrm>
            <a:off x="3817314" y="3321558"/>
            <a:ext cx="4123334" cy="0"/>
          </a:xfrm>
          <a:prstGeom prst="line">
            <a:avLst/>
          </a:prstGeom>
          <a:ln w="12700">
            <a:solidFill>
              <a:srgbClr val="5164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du:interval-label" descr="{&quot;edu_ppt&quot;: {&quot;id&quot;: &quot;S05/visual/row/0/label&quot;}}"/>
          <p:cNvSpPr txBox="1"/>
          <p:nvPr/>
        </p:nvSpPr>
        <p:spPr>
          <a:xfrm>
            <a:off x="670559" y="1840230"/>
            <a:ext cx="3038246" cy="47548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演示A</a:t>
            </a:r>
          </a:p>
        </p:txBody>
      </p:sp>
      <p:cxnSp>
        <p:nvCxnSpPr>
          <p:cNvPr id="8" name="edu:line" descr="{&quot;edu_ppt&quot;: {&quot;id&quot;: &quot;S05/visual/row/0/interval&quot;, &quot;low&quot;: -0.1, &quot;high&quot;: 0.5}}"/>
          <p:cNvCxnSpPr/>
          <p:nvPr/>
        </p:nvCxnSpPr>
        <p:spPr>
          <a:xfrm>
            <a:off x="4733611" y="2068830"/>
            <a:ext cx="2748889" cy="0"/>
          </a:xfrm>
          <a:prstGeom prst="line">
            <a:avLst/>
          </a:prstGeom>
          <a:ln w="381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du:point" descr="{&quot;edu_ppt&quot;: {&quot;id&quot;: &quot;S05/visual/row/0/estimate&quot;, &quot;value&quot;: 0.2}}"/>
          <p:cNvSpPr/>
          <p:nvPr/>
        </p:nvSpPr>
        <p:spPr>
          <a:xfrm>
            <a:off x="6057764" y="2018538"/>
            <a:ext cx="100584" cy="100584"/>
          </a:xfrm>
          <a:prstGeom prst="ellipse">
            <a:avLst/>
          </a:prstGeom>
          <a:solidFill>
            <a:srgbClr val="176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u:interval-value" descr="{&quot;edu_ppt&quot;: {&quot;id&quot;: &quot;S05/visual/row/0/display&quot;}}"/>
          <p:cNvSpPr txBox="1"/>
          <p:nvPr/>
        </p:nvSpPr>
        <p:spPr>
          <a:xfrm>
            <a:off x="8157666" y="1840230"/>
            <a:ext cx="3363772" cy="47548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0.2 [-0.1, 0.5]</a:t>
            </a:r>
          </a:p>
        </p:txBody>
      </p:sp>
      <p:sp>
        <p:nvSpPr>
          <p:cNvPr id="11" name="edu:interval-label" descr="{&quot;edu_ppt&quot;: {&quot;id&quot;: &quot;S05/visual/row/1/label&quot;}}"/>
          <p:cNvSpPr txBox="1"/>
          <p:nvPr/>
        </p:nvSpPr>
        <p:spPr>
          <a:xfrm>
            <a:off x="670559" y="2663190"/>
            <a:ext cx="3038246" cy="47548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演示B</a:t>
            </a:r>
          </a:p>
        </p:txBody>
      </p:sp>
      <p:cxnSp>
        <p:nvCxnSpPr>
          <p:cNvPr id="12" name="edu:line" descr="{&quot;edu_ppt&quot;: {&quot;id&quot;: &quot;S05/visual/row/1/interval&quot;, &quot;low&quot;: -0.2, &quot;high&quot;: 0.4}}"/>
          <p:cNvCxnSpPr/>
          <p:nvPr/>
        </p:nvCxnSpPr>
        <p:spPr>
          <a:xfrm>
            <a:off x="4275463" y="2891790"/>
            <a:ext cx="2748889" cy="0"/>
          </a:xfrm>
          <a:prstGeom prst="line">
            <a:avLst/>
          </a:prstGeom>
          <a:ln w="381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du:point" descr="{&quot;edu_ppt&quot;: {&quot;id&quot;: &quot;S05/visual/row/1/estimate&quot;, &quot;value&quot;: 0.1}}"/>
          <p:cNvSpPr/>
          <p:nvPr/>
        </p:nvSpPr>
        <p:spPr>
          <a:xfrm>
            <a:off x="5599615" y="2841498"/>
            <a:ext cx="100584" cy="100584"/>
          </a:xfrm>
          <a:prstGeom prst="ellipse">
            <a:avLst/>
          </a:prstGeom>
          <a:solidFill>
            <a:srgbClr val="176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u:interval-value" descr="{&quot;edu_ppt&quot;: {&quot;id&quot;: &quot;S05/visual/row/1/display&quot;}}"/>
          <p:cNvSpPr txBox="1"/>
          <p:nvPr/>
        </p:nvSpPr>
        <p:spPr>
          <a:xfrm>
            <a:off x="8157666" y="2663190"/>
            <a:ext cx="3363772" cy="47548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0.1 [-0.2, 0.4]</a:t>
            </a:r>
          </a:p>
        </p:txBody>
      </p:sp>
      <p:sp>
        <p:nvSpPr>
          <p:cNvPr id="15" name="edu:axis" descr="{&quot;edu_ppt&quot;: {&quot;id&quot;: &quot;S05/visual/axis-label&quot;}}"/>
          <p:cNvSpPr txBox="1"/>
          <p:nvPr/>
        </p:nvSpPr>
        <p:spPr>
          <a:xfrm>
            <a:off x="3817314" y="3348989"/>
            <a:ext cx="4123334" cy="41148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-0.3 ← 合成估计值 → 0.6</a:t>
            </a:r>
          </a:p>
        </p:txBody>
      </p:sp>
      <p:sp>
        <p:nvSpPr>
          <p:cNvPr id="16" name="edu:reference-label" descr="{&quot;edu_ppt&quot;: {&quot;id&quot;: &quot;S05/visual/reference-label&quot;}}"/>
          <p:cNvSpPr txBox="1"/>
          <p:nvPr/>
        </p:nvSpPr>
        <p:spPr>
          <a:xfrm>
            <a:off x="670559" y="3348989"/>
            <a:ext cx="3038246" cy="41148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参考值 = 0</a:t>
            </a:r>
          </a:p>
        </p:txBody>
      </p:sp>
      <p:sp>
        <p:nvSpPr>
          <p:cNvPr id="17" name="edu:caption" descr="{&quot;edu_ppt&quot;: {&quot;id&quot;: &quot;S05/visual/caption&quot;}}"/>
          <p:cNvSpPr txBox="1"/>
          <p:nvPr/>
        </p:nvSpPr>
        <p:spPr>
          <a:xfrm>
            <a:off x="670559" y="5580125"/>
            <a:ext cx="10850879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假数仅展示区间与符号，不支持效果或等效判断。</a:t>
            </a:r>
          </a:p>
        </p:txBody>
      </p:sp>
      <p:sp>
        <p:nvSpPr>
          <p:cNvPr id="18" name="edu:source" descr="{&quot;edu_ppt&quot;: {&quot;id&quot;: &quot;S05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合成演示材料 · 图表演示</a:t>
            </a:r>
          </a:p>
        </p:txBody>
      </p:sp>
      <p:sp>
        <p:nvSpPr>
          <p:cNvPr id="19" name="edu:number" descr="{&quot;edu_ppt&quot;: {&quot;id&quot;: &quot;S05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反馈项目：先把修改表现测清楚（合成演示）</dc:title>
  <dc:subject>Education research presentation; source-linked plan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
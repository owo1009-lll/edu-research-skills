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实验组</c:v>
                </c:pt>
              </c:strCache>
            </c:strRef>
          </c:tx>
          <c:spPr>
            <a:solidFill>
              <a:srgbClr val="176B76"/>
            </a:solidFill>
          </c:spPr>
          <c:cat>
            <c:strRef>
              <c:f>Sheet1!$A$2:$A$3</c:f>
              <c:strCache>
                <c:ptCount val="2"/>
                <c:pt idx="0">
                  <c:v>前测</c:v>
                </c:pt>
                <c:pt idx="1">
                  <c:v>后测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对照组</c:v>
                </c:pt>
              </c:strCache>
            </c:strRef>
          </c:tx>
          <c:spPr>
            <a:solidFill>
              <a:srgbClr val="C46B16"/>
            </a:solidFill>
          </c:spPr>
          <c:cat>
            <c:strRef>
              <c:f>Sheet1!$A$2:$A$3</c:f>
              <c:strCache>
                <c:ptCount val="2"/>
                <c:pt idx="0">
                  <c:v>前测</c:v>
                </c:pt>
                <c:pt idx="1">
                  <c:v>后测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12</c:v>
                </c:pt>
                <c:pt idx="1">
                  <c:v>14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分（合成）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5.0"/>
      </c:valAx>
    </c:plotArea>
    <c:legend>
      <c:legendPos val="b"/>
      <c:overlay val="0"/>
    </c:legend>
    <c:dispBlanksAs val="gap"/>
  </c:chart>
  <c:txPr>
    <a:bodyPr/>
    <a:lstStyle/>
    <a:p>
      <a:pPr>
        <a:defRPr sz="1700">
          <a:latin typeface="Microsoft YaHe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实验组</c:v>
                </c:pt>
              </c:strCache>
            </c:strRef>
          </c:tx>
          <c:spPr>
            <a:ln>
              <a:solidFill>
                <a:srgbClr val="176B76"/>
              </a:solidFill>
            </a:ln>
          </c:spPr>
          <c:marker>
            <c:symbol val="circle"/>
            <c:spPr>
              <a:solidFill>
                <a:srgbClr val="176B76"/>
              </a:solidFill>
              <a:ln>
                <a:solidFill>
                  <a:srgbClr val="176B76"/>
                </a:solidFill>
              </a:ln>
            </c:spPr>
          </c:marker>
          <c:cat>
            <c:strRef>
              <c:f>Sheet1!$A$2:$A$3</c:f>
              <c:strCache>
                <c:ptCount val="2"/>
                <c:pt idx="0">
                  <c:v>前测</c:v>
                </c:pt>
                <c:pt idx="1">
                  <c:v>后测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12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对照组</c:v>
                </c:pt>
              </c:strCache>
            </c:strRef>
          </c:tx>
          <c:spPr>
            <a:ln>
              <a:solidFill>
                <a:srgbClr val="C46B16"/>
              </a:solidFill>
            </a:ln>
          </c:spPr>
          <c:marker>
            <c:symbol val="square"/>
            <c:spPr>
              <a:solidFill>
                <a:srgbClr val="C46B16"/>
              </a:solidFill>
              <a:ln>
                <a:solidFill>
                  <a:srgbClr val="C46B16"/>
                </a:solidFill>
              </a:ln>
            </c:spPr>
          </c:marker>
          <c:cat>
            <c:strRef>
              <c:f>Sheet1!$A$2:$A$3</c:f>
              <c:strCache>
                <c:ptCount val="2"/>
                <c:pt idx="0">
                  <c:v>前测</c:v>
                </c:pt>
                <c:pt idx="1">
                  <c:v>后测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</c:v>
                </c:pt>
                <c:pt idx="1">
                  <c:v>10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600"/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3.0"/>
          <c:min val="7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分（合成）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  <c:majorUnit val="2.0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700">
          <a:latin typeface="Microsoft YaHe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合成计数</c:v>
                </c:pt>
              </c:strCache>
            </c:strRef>
          </c:tx>
          <c:spPr>
            <a:solidFill>
              <a:srgbClr val="176B76"/>
            </a:solidFill>
          </c:spPr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份数（合成）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700">
          <a:latin typeface="Microsoft YaHe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两种颜色固定对应两个组，图例与数据保持一致。 所有数值专为检查显示和对象一致性构造，不属于阶段项目的结果。</a:t>
            </a:r>
          </a:p>
          <a:p/>
          <a:p>
            <a:r>
              <a:t>来源：合成验证数据 · C01</a:t>
            </a:r>
          </a:p>
          <a:p>
            <a:r>
              <a:t>预计讲解：60秒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0.009 [0.004, 0.014]的三个数值均按原精度显示。 所有数值专为检查显示和对象一致性构造，不属于阶段项目的结果。</a:t>
            </a:r>
          </a:p>
          <a:p/>
          <a:p>
            <a:r>
              <a:t>来源：合成验证数据 · C02</a:t>
            </a:r>
          </a:p>
          <a:p>
            <a:r>
              <a:t>预计讲解：60秒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参考线按比值指标设为1，此处使用线性尺度。 所有数值专为检查显示和对象一致性构造，不属于阶段项目的结果。</a:t>
            </a:r>
          </a:p>
          <a:p/>
          <a:p>
            <a:r>
              <a:t>来源：合成验证数据 · C03</a:t>
            </a:r>
          </a:p>
          <a:p>
            <a:r>
              <a:t>预计讲解：60秒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非零坐标范围覆盖全部观测值，保留可读的单位。 所有数值专为检查显示和对象一致性构造，不属于阶段项目的结果。</a:t>
            </a:r>
          </a:p>
          <a:p/>
          <a:p>
            <a:r>
              <a:t>来源：合成验证数据 · C04</a:t>
            </a:r>
          </a:p>
          <a:p>
            <a:r>
              <a:t>预计讲解：60秒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这页展示显式截断警示，不用于比较柱长。 所有数值专为检查显示和对象一致性构造，不属于阶段项目的结果。</a:t>
            </a:r>
          </a:p>
          <a:p/>
          <a:p>
            <a:r>
              <a:t>来源：合成验证数据 · C05</a:t>
            </a:r>
          </a:p>
          <a:p>
            <a:r>
              <a:t>预计讲解：60秒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C01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实验组与对照组：前测和后测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C01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两种颜色固定对应两个组，图例与数据保持一致。</a:t>
            </a:r>
          </a:p>
        </p:txBody>
      </p:sp>
      <p:graphicFrame>
        <p:nvGraphicFramePr>
          <p:cNvPr id="5" name="edu:chart" descr="{&quot;edu_ppt&quot;: {&quot;id&quot;: &quot;C01/visual/chart&quot;, &quot;series_colors&quot;: [&quot;176B76&quot;, &quot;C46B16&quot;]}}"/>
          <p:cNvGraphicFramePr>
            <a:graphicFrameLocks noGrp="1"/>
          </p:cNvGraphicFramePr>
          <p:nvPr/>
        </p:nvGraphicFramePr>
        <p:xfrm>
          <a:off x="670559" y="1657350"/>
          <a:ext cx="10850879" cy="390448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edu:caption" descr="{&quot;edu_ppt&quot;: {&quot;id&quot;: &quot;C01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纯合成成品验证，不能用于教学效果推断。</a:t>
            </a:r>
          </a:p>
        </p:txBody>
      </p:sp>
      <p:sp>
        <p:nvSpPr>
          <p:cNvPr id="7" name="edu:source" descr="{&quot;edu_ppt&quot;: {&quot;id&quot;: &quot;C01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合成验证数据 · C01</a:t>
            </a:r>
          </a:p>
        </p:txBody>
      </p:sp>
      <p:sp>
        <p:nvSpPr>
          <p:cNvPr id="8" name="edu:number" descr="{&quot;edu_ppt&quot;: {&quot;id&quot;: &quot;C01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C02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小数区间：保留与零的关系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C02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0.009 [0.004, 0.014]的三个数值均按原精度显示。</a:t>
            </a:r>
          </a:p>
        </p:txBody>
      </p:sp>
      <p:cxnSp>
        <p:nvCxnSpPr>
          <p:cNvPr id="5" name="edu:line" descr="{&quot;edu_ppt&quot;: {&quot;id&quot;: &quot;C02/visual/reference&quot;, &quot;value&quot;: 0}}"/>
          <p:cNvCxnSpPr/>
          <p:nvPr/>
        </p:nvCxnSpPr>
        <p:spPr>
          <a:xfrm>
            <a:off x="4192163" y="1657350"/>
            <a:ext cx="0" cy="822960"/>
          </a:xfrm>
          <a:prstGeom prst="line">
            <a:avLst/>
          </a:prstGeom>
          <a:ln w="12700">
            <a:solidFill>
              <a:srgbClr val="5164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du:line" descr="{&quot;edu_ppt&quot;: {&quot;id&quot;: &quot;C02/visual/axis-line&quot;, &quot;range&quot;: [-0.002, 0.02], &quot;scale&quot;: &quot;linear&quot;, &quot;unit&quot;: &quot;差值&quot;}}"/>
          <p:cNvCxnSpPr/>
          <p:nvPr/>
        </p:nvCxnSpPr>
        <p:spPr>
          <a:xfrm>
            <a:off x="3817314" y="2498598"/>
            <a:ext cx="4123334" cy="0"/>
          </a:xfrm>
          <a:prstGeom prst="line">
            <a:avLst/>
          </a:prstGeom>
          <a:ln w="12700">
            <a:solidFill>
              <a:srgbClr val="5164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du:interval-label" descr="{&quot;edu_ppt&quot;: {&quot;id&quot;: &quot;C02/visual/row/0/label&quot;}}"/>
          <p:cNvSpPr txBox="1"/>
          <p:nvPr/>
        </p:nvSpPr>
        <p:spPr>
          <a:xfrm>
            <a:off x="670559" y="1840230"/>
            <a:ext cx="3038246" cy="47548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小差值（合成）</a:t>
            </a:r>
          </a:p>
        </p:txBody>
      </p:sp>
      <p:cxnSp>
        <p:nvCxnSpPr>
          <p:cNvPr id="8" name="edu:line" descr="{&quot;edu_ppt&quot;: {&quot;id&quot;: &quot;C02/visual/row/0/interval&quot;, &quot;low&quot;: 0.004, &quot;high&quot;: 0.014}}"/>
          <p:cNvCxnSpPr/>
          <p:nvPr/>
        </p:nvCxnSpPr>
        <p:spPr>
          <a:xfrm>
            <a:off x="4941860" y="2068830"/>
            <a:ext cx="1874243" cy="0"/>
          </a:xfrm>
          <a:prstGeom prst="line">
            <a:avLst/>
          </a:prstGeom>
          <a:ln w="381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u:point" descr="{&quot;edu_ppt&quot;: {&quot;id&quot;: &quot;C02/visual/row/0/estimate&quot;, &quot;value&quot;: 0.009}}"/>
          <p:cNvSpPr/>
          <p:nvPr/>
        </p:nvSpPr>
        <p:spPr>
          <a:xfrm>
            <a:off x="5828689" y="2018538"/>
            <a:ext cx="100584" cy="100584"/>
          </a:xfrm>
          <a:prstGeom prst="ellipse">
            <a:avLst/>
          </a:prstGeom>
          <a:solidFill>
            <a:srgbClr val="176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u:interval-value" descr="{&quot;edu_ppt&quot;: {&quot;id&quot;: &quot;C02/visual/row/0/display&quot;}}"/>
          <p:cNvSpPr txBox="1"/>
          <p:nvPr/>
        </p:nvSpPr>
        <p:spPr>
          <a:xfrm>
            <a:off x="8157666" y="1840230"/>
            <a:ext cx="3363772" cy="47548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0.009 [0.004, 0.014]</a:t>
            </a:r>
          </a:p>
        </p:txBody>
      </p:sp>
      <p:sp>
        <p:nvSpPr>
          <p:cNvPr id="11" name="edu:axis" descr="{&quot;edu_ppt&quot;: {&quot;id&quot;: &quot;C02/visual/axis-label&quot;}}"/>
          <p:cNvSpPr txBox="1"/>
          <p:nvPr/>
        </p:nvSpPr>
        <p:spPr>
          <a:xfrm>
            <a:off x="3817314" y="2526029"/>
            <a:ext cx="4123334" cy="41148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-0.002 ← 差值 → 0.02</a:t>
            </a:r>
          </a:p>
        </p:txBody>
      </p:sp>
      <p:sp>
        <p:nvSpPr>
          <p:cNvPr id="12" name="edu:reference-label" descr="{&quot;edu_ppt&quot;: {&quot;id&quot;: &quot;C02/visual/reference-label&quot;}}"/>
          <p:cNvSpPr txBox="1"/>
          <p:nvPr/>
        </p:nvSpPr>
        <p:spPr>
          <a:xfrm>
            <a:off x="670559" y="2526029"/>
            <a:ext cx="3038246" cy="41148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参考值 = 0</a:t>
            </a:r>
          </a:p>
        </p:txBody>
      </p:sp>
      <p:sp>
        <p:nvSpPr>
          <p:cNvPr id="13" name="edu:caption" descr="{&quot;edu_ppt&quot;: {&quot;id&quot;: &quot;C02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合成区间，仅检查精度与位置；下限保持大于零。</a:t>
            </a:r>
          </a:p>
        </p:txBody>
      </p:sp>
      <p:sp>
        <p:nvSpPr>
          <p:cNvPr id="14" name="edu:source" descr="{&quot;edu_ppt&quot;: {&quot;id&quot;: &quot;C02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合成验证数据 · C02</a:t>
            </a:r>
          </a:p>
        </p:txBody>
      </p:sp>
      <p:sp>
        <p:nvSpPr>
          <p:cNvPr id="15" name="edu:number" descr="{&quot;edu_ppt&quot;: {&quot;id&quot;: &quot;C02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C03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比值区间：参考值为1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C03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参考线按比值指标设为1，此处使用线性尺度。</a:t>
            </a:r>
          </a:p>
        </p:txBody>
      </p:sp>
      <p:cxnSp>
        <p:nvCxnSpPr>
          <p:cNvPr id="5" name="edu:line" descr="{&quot;edu_ppt&quot;: {&quot;id&quot;: &quot;C03/visual/reference&quot;, &quot;value&quot;: 1}}"/>
          <p:cNvCxnSpPr/>
          <p:nvPr/>
        </p:nvCxnSpPr>
        <p:spPr>
          <a:xfrm>
            <a:off x="5191759" y="1657350"/>
            <a:ext cx="0" cy="822960"/>
          </a:xfrm>
          <a:prstGeom prst="line">
            <a:avLst/>
          </a:prstGeom>
          <a:ln w="12700">
            <a:solidFill>
              <a:srgbClr val="5164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du:line" descr="{&quot;edu_ppt&quot;: {&quot;id&quot;: &quot;C03/visual/axis-line&quot;, &quot;range&quot;: [0.5, 2], &quot;scale&quot;: &quot;linear&quot;, &quot;unit&quot;: &quot;风险比&quot;}}"/>
          <p:cNvCxnSpPr/>
          <p:nvPr/>
        </p:nvCxnSpPr>
        <p:spPr>
          <a:xfrm>
            <a:off x="3817314" y="2498598"/>
            <a:ext cx="4123334" cy="0"/>
          </a:xfrm>
          <a:prstGeom prst="line">
            <a:avLst/>
          </a:prstGeom>
          <a:ln w="12700">
            <a:solidFill>
              <a:srgbClr val="5164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du:interval-label" descr="{&quot;edu_ppt&quot;: {&quot;id&quot;: &quot;C03/visual/row/0/label&quot;}}"/>
          <p:cNvSpPr txBox="1"/>
          <p:nvPr/>
        </p:nvSpPr>
        <p:spPr>
          <a:xfrm>
            <a:off x="670559" y="1840230"/>
            <a:ext cx="3038246" cy="47548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风险比（合成）</a:t>
            </a:r>
          </a:p>
        </p:txBody>
      </p:sp>
      <p:cxnSp>
        <p:nvCxnSpPr>
          <p:cNvPr id="8" name="edu:line" descr="{&quot;edu_ppt&quot;: {&quot;id&quot;: &quot;C03/visual/row/0/interval&quot;, &quot;low&quot;: 0.9, &quot;high&quot;: 1.5}}"/>
          <p:cNvCxnSpPr/>
          <p:nvPr/>
        </p:nvCxnSpPr>
        <p:spPr>
          <a:xfrm>
            <a:off x="4916870" y="2068830"/>
            <a:ext cx="1649334" cy="0"/>
          </a:xfrm>
          <a:prstGeom prst="line">
            <a:avLst/>
          </a:prstGeom>
          <a:ln w="381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u:point" descr="{&quot;edu_ppt&quot;: {&quot;id&quot;: &quot;C03/visual/row/0/estimate&quot;, &quot;value&quot;: 1.2}}"/>
          <p:cNvSpPr/>
          <p:nvPr/>
        </p:nvSpPr>
        <p:spPr>
          <a:xfrm>
            <a:off x="5691245" y="2018538"/>
            <a:ext cx="100584" cy="100584"/>
          </a:xfrm>
          <a:prstGeom prst="ellipse">
            <a:avLst/>
          </a:prstGeom>
          <a:solidFill>
            <a:srgbClr val="176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u:interval-value" descr="{&quot;edu_ppt&quot;: {&quot;id&quot;: &quot;C03/visual/row/0/display&quot;}}"/>
          <p:cNvSpPr txBox="1"/>
          <p:nvPr/>
        </p:nvSpPr>
        <p:spPr>
          <a:xfrm>
            <a:off x="8157666" y="1840230"/>
            <a:ext cx="3363772" cy="47548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1.2 [0.9, 1.5]</a:t>
            </a:r>
          </a:p>
        </p:txBody>
      </p:sp>
      <p:sp>
        <p:nvSpPr>
          <p:cNvPr id="11" name="edu:axis" descr="{&quot;edu_ppt&quot;: {&quot;id&quot;: &quot;C03/visual/axis-label&quot;}}"/>
          <p:cNvSpPr txBox="1"/>
          <p:nvPr/>
        </p:nvSpPr>
        <p:spPr>
          <a:xfrm>
            <a:off x="3817314" y="2526029"/>
            <a:ext cx="4123334" cy="41148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0.5 ← 风险比 → 2</a:t>
            </a:r>
          </a:p>
        </p:txBody>
      </p:sp>
      <p:sp>
        <p:nvSpPr>
          <p:cNvPr id="12" name="edu:reference-label" descr="{&quot;edu_ppt&quot;: {&quot;id&quot;: &quot;C03/visual/reference-label&quot;}}"/>
          <p:cNvSpPr txBox="1"/>
          <p:nvPr/>
        </p:nvSpPr>
        <p:spPr>
          <a:xfrm>
            <a:off x="670559" y="2526029"/>
            <a:ext cx="3038246" cy="41148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参考值 = 1</a:t>
            </a:r>
          </a:p>
        </p:txBody>
      </p:sp>
      <p:sp>
        <p:nvSpPr>
          <p:cNvPr id="13" name="edu:caption" descr="{&quot;edu_ppt&quot;: {&quot;id&quot;: &quot;C03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合成区间，不表示任何真实干预的风险。</a:t>
            </a:r>
          </a:p>
        </p:txBody>
      </p:sp>
      <p:sp>
        <p:nvSpPr>
          <p:cNvPr id="14" name="edu:source" descr="{&quot;edu_ppt&quot;: {&quot;id&quot;: &quot;C03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合成验证数据 · C03</a:t>
            </a:r>
          </a:p>
        </p:txBody>
      </p:sp>
      <p:sp>
        <p:nvSpPr>
          <p:cNvPr id="15" name="edu:number" descr="{&quot;edu_ppt&quot;: {&quot;id&quot;: &quot;C03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C04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折线图：按变化范围设置坐标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C04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非零坐标范围覆盖全部观测值，保留可读的单位。</a:t>
            </a:r>
          </a:p>
        </p:txBody>
      </p:sp>
      <p:graphicFrame>
        <p:nvGraphicFramePr>
          <p:cNvPr id="5" name="edu:chart" descr="{&quot;edu_ppt&quot;: {&quot;id&quot;: &quot;C04/visual/chart&quot;, &quot;series_colors&quot;: [&quot;176B76&quot;, &quot;C46B16&quot;]}}"/>
          <p:cNvGraphicFramePr>
            <a:graphicFrameLocks noGrp="1"/>
          </p:cNvGraphicFramePr>
          <p:nvPr/>
        </p:nvGraphicFramePr>
        <p:xfrm>
          <a:off x="670559" y="1657350"/>
          <a:ext cx="10850879" cy="390448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edu:caption" descr="{&quot;edu_ppt&quot;: {&quot;id&quot;: &quot;C04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非零起点不裁切本例数据；颜色与标记共同区分两个系列。</a:t>
            </a:r>
          </a:p>
        </p:txBody>
      </p:sp>
      <p:sp>
        <p:nvSpPr>
          <p:cNvPr id="7" name="edu:source" descr="{&quot;edu_ppt&quot;: {&quot;id&quot;: &quot;C04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合成验证数据 · C04</a:t>
            </a:r>
          </a:p>
        </p:txBody>
      </p:sp>
      <p:sp>
        <p:nvSpPr>
          <p:cNvPr id="8" name="edu:number" descr="{&quot;edu_ppt&quot;: {&quot;id&quot;: &quot;C04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C05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有意截断的边界测试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C05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这页展示显式截断警示，不用于比较柱长。</a:t>
            </a:r>
          </a:p>
        </p:txBody>
      </p:sp>
      <p:graphicFrame>
        <p:nvGraphicFramePr>
          <p:cNvPr id="5" name="edu:chart" descr="{&quot;edu_ppt&quot;: {&quot;id&quot;: &quot;C05/visual/chart&quot;, &quot;series_colors&quot;: [&quot;176B76&quot;]}}"/>
          <p:cNvGraphicFramePr>
            <a:graphicFrameLocks noGrp="1"/>
          </p:cNvGraphicFramePr>
          <p:nvPr/>
        </p:nvGraphicFramePr>
        <p:xfrm>
          <a:off x="670559" y="1657350"/>
          <a:ext cx="10850879" cy="33101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edu:truncation-note" descr="{&quot;edu_ppt&quot;: {&quot;id&quot;: &quot;C05/visual/truncation-note&quot;}}"/>
          <p:cNvSpPr txBox="1"/>
          <p:nvPr/>
        </p:nvSpPr>
        <p:spPr>
          <a:xfrm>
            <a:off x="670559" y="4985766"/>
            <a:ext cx="10850879" cy="57607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坐标说明：纵轴上限5，两个柱均被截断；完整数值：A=12，B=8。</a:t>
            </a:r>
          </a:p>
        </p:txBody>
      </p:sp>
      <p:sp>
        <p:nvSpPr>
          <p:cNvPr id="7" name="edu:caption" descr="{&quot;edu_ppt&quot;: {&quot;id&quot;: &quot;C05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验证许可截断时说明实际可见；正式汇报优先使用完整范围。</a:t>
            </a:r>
          </a:p>
        </p:txBody>
      </p:sp>
      <p:sp>
        <p:nvSpPr>
          <p:cNvPr id="8" name="edu:source" descr="{&quot;edu_ppt&quot;: {&quot;id&quot;: &quot;C05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合成验证数据 · C05</a:t>
            </a:r>
          </a:p>
        </p:txBody>
      </p:sp>
      <p:sp>
        <p:nvSpPr>
          <p:cNvPr id="9" name="edu:number" descr="{&quot;edu_ppt&quot;: {&quot;id&quot;: &quot;C05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图表成品核对：合成验证材料</dc:title>
  <dc:subject>Education research presentation; source-linked plan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
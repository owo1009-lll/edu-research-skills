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帮助母亲理解新生儿的信号以后，她报告的学习与信心，和后来观察到的互动，会怎样变化？今天解读Valla等人在冰岛开展的随机试验。研究同时收集母亲问卷和四个月时的互动录像，我们沿着问题、已有证据、设计和发现来看：共同观察带来了什么，又把哪些问题留给了后续研究。</a:t>
            </a:r>
          </a:p>
          <a:p/>
          <a:p>
            <a:r>
              <a:t>来源：Valla et al., 2025 · pp.1–2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绪可得性说的是双方能否形成积极、协调的情绪联结，不只看母亲，也看婴儿的回应和参与。敏感性是其中一个成人维度：能否察觉婴儿信号并作出合适回应。例如婴儿转头时，照护者留出停顿，等他重新投入，这是帮助理解的例子，并非本文记录的个案。非敌意关注另一面：照护者能否调节自己的负面情绪，少表现出不耐烦或责备。少敌意不自动等于所有回应都敏感。本文用四个月时约二十分钟的自由游戏录像，由不知道组别的编码者给EAS六个维度评分。与此分开，早期家长问卷问母亲觉得学到了多少；其中Child competence也指她对婴儿能力的了解，不是儿童发展测验。</a:t>
            </a:r>
          </a:p>
          <a:p/>
          <a:p>
            <a:r>
              <a:t>来源：Saunders et al., 2015 · Emotional Availability; Valla et al., 2025 · p.6 Measures</a:t>
            </a:r>
          </a:p>
          <a:p>
            <a:r>
              <a:t>预计讲解：90秒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证据并非一片空白。Valla等回顾的北欧研究报告母亲更了解婴儿信号；这里保留原作者回顾的归属。最接近的是Nicolson等2022年的澳大利亚随机试验：有产前困扰或相关病史的初产妇接受三次NBO，四个月时观察到敏感性与非侵入性得分较高。冰岛研究进一步把NBO嵌入原有家庭访视，两组访视次数相同。这让问题具体化：在已有照护之上，共同观察能否增加母亲的学习，并带来后续互动变化？因此，本文值得关注的不是又换了一个国家，而是增加了一项不同照护背景下的随机比较。</a:t>
            </a:r>
          </a:p>
          <a:p/>
          <a:p>
            <a:r>
              <a:t>来源：Valla et al., 2025 · pp.2,8–9; Nicolson et al., 2022 · §2.1–2.2; §3.3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在雷克雅未克招募，随机序列由不参与临床实施的研究者准备。正文写明五十六人被随机分配，干预组有两人没有完成问卷，随后概括研究样本为五十四人。需要注意，对照组不是没有照护，而是接受同样次数的常规家庭访视。因此，结果回答的是在既有服务中增加NBO有何变化。母亲不能被假定为盲态，而后续录像的EAS编码者不知道组别。不同结局的分母还要回各自记录核对。</a:t>
            </a:r>
          </a:p>
          <a:p/>
          <a:p>
            <a:r>
              <a:t>来源：Valla et al., 2025 · pp.3,6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招募先从二百一十七人的筛查开始，六十人符合条件，五十六人同意并随机分组，每组二十八人。随后NBO组两人没有完成问卷，正文以二十六加二十八概括研究样本。后面的结果按各自分析记录阅读；表七另有分母不一致的问题，我们在证据边界页具体说明。</a:t>
            </a:r>
          </a:p>
          <a:p/>
          <a:p>
            <a:r>
              <a:t>来源：Valla et al., 2025 · p.4 Fig.1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认证的护士在产后第二、三、四周访视时，与母亲一起观察婴儿。十八项神经行为观察并不是机械地逐项做完，而是随婴儿状态安排：哭泣时探索安抚方式，安静清醒时看看他怎样回应母亲的声音与面孔，以及什么时候需要休息。结束前，护士和母亲回顾刚才看到的信号，讨论适合这个婴儿的回应策略。家长在这里参与观察和判断，而不只是接受一段育儿知识讲解。</a:t>
            </a:r>
          </a:p>
          <a:p/>
          <a:p>
            <a:r>
              <a:t>来源：Valla et al., 2025 · pp.3,5 Intervention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长问卷在三次访视后填写，作者用混合效应模型处理这些时点的信息。结果页将展示只调整时间的组间差异。互动录像则在四个月时拍摄，每段自由游戏约二十分钟，使用EAS的六个维度评分。作者既给出未调整比较，也给出调整孩子性别、喂养和胎龄的回归结果。把两套分析分开，能避免把某一次显著发现说成所有互动维度都改善。</a:t>
            </a:r>
          </a:p>
          <a:p/>
          <a:p>
            <a:r>
              <a:t>来源：Valla et al., 2025 · pp.5–7; Tables 2,6,7</a:t>
            </a:r>
          </a:p>
          <a:p>
            <a:r>
              <a:t>预计讲解：70秒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母亲报告的学习呈现了较清楚的组间差异。只调整时间的模型中，对婴儿能力的了解高一点零一分，区间为零点七一到一点三一；对家长能力与信心的自评高零点九零分，区间为零点五七到一点二三。这是1到4分问卷上的未标准化差异，反映母亲的学习体验。分量表缺少正式验证，所以还需要下一页的行为观察来回答互动是否改善。表六同时报告，对婴儿能力了解的第三次评分较第一次低零点二九；这是跨组的时间项，不能解释为NBO的组间效果随时间减弱。</a:t>
            </a:r>
          </a:p>
          <a:p/>
          <a:p>
            <a:r>
              <a:t>来源：Valla et al., 2025 · p.9 Table 6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更重要的行为问题：四个月时的互动怎样？敏感性的调整后差值为一点五五，区间从负一点五六到四点六七，说明目前对差异的方向和大小仍不确定。组织性、非侵入性以及婴儿回应和参与也有跨零区间。非敌意的差值为一点九零，区间为零点一九到三点六二，提示这一维度的得分较高，也就是较少表现出敌意。六个维度的结果给出的图景是：母亲自评的学习优势较清楚，广泛的互动改善尚缺乏明确证据；单项非敌意线索还要结合模型设定来看。</a:t>
            </a:r>
          </a:p>
          <a:p/>
          <a:p>
            <a:r>
              <a:t>来源：Valla et al., 2025 · p.9 Table 7</a:t>
            </a:r>
          </a:p>
          <a:p>
            <a:r>
              <a:t>预计讲解：80秒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敌意的结果随模型设定改变。未调整差值为零点六七，区间从负零点八五到二点一八；调整孩子性别、喂养和胎龄后，差值为一点九零，区间从零点一九到三点六二。两套结果来自同一研究，显示这条线索依赖调整设定。它值得进一步研究，也需要和敏感性等主要互动结果的不确定性一起理解。</a:t>
            </a:r>
          </a:p>
          <a:p/>
          <a:p>
            <a:r>
              <a:t>来源：Valla et al., 2025 · p.9 Table 7</a:t>
            </a:r>
          </a:p>
          <a:p>
            <a:r>
              <a:t>预计讲解：50秒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本文与最接近的澳大利亚试验对应起来，可以看到共同点是三次早期NBO和四个月时的EAS观察。澳大利亚研究纳入高风险初产妇，互动分析包括七十四名完成者；它报告敏感性和非侵入性得分较高。冰岛纳入了初产和经产妇，两组家庭访视次数相同，而澳大利亚对照没有匹配NBO的接触时间。分析也有不同：澳大利亚先作多变量再作维度比较，冰岛同时报告未调整和协变量调整结果。本文增加的是常规访视背景下、兼顾自评与观察的一项随机证据；它把“互动改善”进一步细分到具体维度和模型。仅凭一项显著、另一项未显著，不能判定两个研究彼此冲突，更不能指定照护差异就是原因。</a:t>
            </a:r>
          </a:p>
          <a:p/>
          <a:p>
            <a:r>
              <a:t>来源：Nicolson et al., 2022 · §2.1–2.5; §3.3/Table 4; Valla et al., 2025 · pp.3,6,9/Table 7</a:t>
            </a:r>
          </a:p>
          <a:p>
            <a:r>
              <a:t>预计讲解：85秒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la等把非敌意线索与理解婴儿联系起来：哭泣可能表达调节需要，理解这种需要有助于减少对婴儿的负面解释。这是作者提出的过程解释，研究没有直接检验共情的中介作用。对于尚不清楚的互动变化，作者还讨论剂量、观察时程和原有服务。它们为下一步研究提供方向，目前的比较没有把这些解释区分开。对教育和家庭支持项目，我的借鉴是：应该同步记录家长怎样理解情境、怎样实际回应，从而检验学习体验如何转化为互动表现。</a:t>
            </a:r>
          </a:p>
          <a:p/>
          <a:p>
            <a:r>
              <a:t>来源：Valla et al., 2025 · pp.8–9 Discussion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这项证据时，有几处边界会影响判断。小样本使互动估计仍不精确；缺少实施忠实度测量，难以知道每次共同观察落实到了什么程度。自评分量表也缺正式验证，不能把分数差直接对应为客观能力增量。另有一个需要保留的原文疑点：正文概括为NBO二十六人、对照二十八人，但表七敏感性一行两组都列二十九，其他对照项也列二十九。这里保留原表估计与疑点，不能自行猜测分母。结论适用于当地常规照护中的这一高风险样本，推广需要更多证据。</a:t>
            </a:r>
          </a:p>
          <a:p/>
          <a:p>
            <a:r>
              <a:t>来源：Valla et al., 2025 · pp.3,9; Table 7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话收尾：这项研究针对高风险母婴家庭，在同次数常规访视中随机加入NBO，发现母亲自评的学习与信心更高、四个月互动的改善证据仍有限，补充了已有试验在不同照护背景下的证据，并要求我们把不同结局层次分开判断。对自己的研究，一个明确的设计启示是同时测量理解、信心和实际表现。我们准备怎样观察从学到做到的过程？</a:t>
            </a:r>
          </a:p>
          <a:p/>
          <a:p>
            <a:r>
              <a:t>来源：Valla et al., 2025 · pp.9–10</a:t>
            </a:r>
          </a:p>
          <a:p>
            <a:r>
              <a:t>预计讲解：50秒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这里保留原研究的完整招募流程图，供需要时放大查看各阶段人数。</a:t>
            </a:r>
          </a:p>
          <a:p/>
          <a:p>
            <a:r>
              <a:t>来源：Valla et al., 2025 · p.4 Fig.1</a:t>
            </a:r>
          </a:p>
          <a:p>
            <a:r>
              <a:t>预计讲解：10秒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看懂婴儿以后，互动是否改变？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这项试验把母亲自评与后续互动观察分开检验。</a:t>
            </a:r>
          </a:p>
        </p:txBody>
      </p:sp>
      <p:sp>
        <p:nvSpPr>
          <p:cNvPr id="5" name="edu:body" descr="{&quot;edu_ppt&quot;: {&quot;id&quot;: &quot;N01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原研究：Valla等，2025，冰岛。</a:t>
            </a:r>
          </a:p>
        </p:txBody>
      </p:sp>
      <p:sp>
        <p:nvSpPr>
          <p:cNvPr id="6" name="edu:body" descr="{&quot;edu_ppt&quot;: {&quot;id&quot;: &quot;N01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问题：共同观察婴儿，能否改善母亲的理解与互动？</a:t>
            </a:r>
          </a:p>
        </p:txBody>
      </p:sp>
      <p:sp>
        <p:nvSpPr>
          <p:cNvPr id="7" name="edu:body" descr="{&quot;edu_ppt&quot;: {&quot;id&quot;: &quot;N01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本次为文章解读，研究由原作者团队完成。</a:t>
            </a:r>
          </a:p>
        </p:txBody>
      </p:sp>
      <p:sp>
        <p:nvSpPr>
          <p:cNvPr id="8" name="edu:source" descr="{&quot;edu_ppt&quot;: {&quot;id&quot;: &quot;N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pp.1–2</a:t>
            </a:r>
          </a:p>
        </p:txBody>
      </p:sp>
      <p:sp>
        <p:nvSpPr>
          <p:cNvPr id="9" name="edu:number" descr="{&quot;edu_ppt&quot;: {&quot;id&quot;: &quot;N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从理解婴儿到互动表现，分别测了什么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敏感性与非敌意是情绪可得性的不同维度。</a:t>
            </a:r>
          </a:p>
        </p:txBody>
      </p:sp>
      <p:graphicFrame>
        <p:nvGraphicFramePr>
          <p:cNvPr id="5" name="edu:table" descr="{&quot;edu_ppt&quot;: {&quot;id&quot;: &quot;N02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542"/>
                <a:gridCol w="4779553"/>
                <a:gridCol w="3487782"/>
              </a:tblGrid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概念关系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含义与表现示例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本文如何测量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情绪可得性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整体框架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积极的情绪联结；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兼顾成人与婴儿。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4个月互动录像；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EAS六维评分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成人维度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察觉并恰当回应信号；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如婴儿转头时放慢互动。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EAS敏感性评分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非敌意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成人维度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调节自己的负面情绪；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少责备、少不耐烦。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EAS非敌意评分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780899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母亲自评学习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报告自己学到了多少，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与观察到的表现分开。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第2、3、4周问卷；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1—4分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N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表现例子用于解释概念，非本研究的逐例观察记录。</a:t>
            </a:r>
          </a:p>
        </p:txBody>
      </p:sp>
      <p:sp>
        <p:nvSpPr>
          <p:cNvPr id="7" name="edu:source" descr="{&quot;edu_ppt&quot;: {&quot;id&quot;: &quot;N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Saunders et al., 2015 · Emotional Availability; Valla et al., 2025 · p.6 Measures</a:t>
            </a:r>
          </a:p>
        </p:txBody>
      </p:sp>
      <p:sp>
        <p:nvSpPr>
          <p:cNvPr id="8" name="edu:number" descr="{&quot;edu_ppt&quot;: {&quot;id&quot;: &quot;N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已有互动获益线索，常规服务中还能增加什么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已有试验提供积极线索，仍需检验不同照护背景下的增量。</a:t>
            </a:r>
          </a:p>
        </p:txBody>
      </p:sp>
      <p:sp>
        <p:nvSpPr>
          <p:cNvPr id="5" name="edu:body" descr="{&quot;edu_ppt&quot;: {&quot;id&quot;: &quot;N03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原作者回顾：北欧研究报告母亲更了解婴儿信号。</a:t>
            </a:r>
          </a:p>
        </p:txBody>
      </p:sp>
      <p:sp>
        <p:nvSpPr>
          <p:cNvPr id="6" name="edu:body" descr="{&quot;edu_ppt&quot;: {&quot;id&quot;: &quot;N03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澳大利亚试验：高风险初产妇的部分EAS维度改善。</a:t>
            </a:r>
          </a:p>
        </p:txBody>
      </p:sp>
      <p:sp>
        <p:nvSpPr>
          <p:cNvPr id="7" name="edu:body" descr="{&quot;edu_ppt&quot;: {&quot;id&quot;: &quot;N03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本文追问：两组访视次数相同，加入NBO后会怎样？</a:t>
            </a:r>
          </a:p>
        </p:txBody>
      </p:sp>
      <p:sp>
        <p:nvSpPr>
          <p:cNvPr id="8" name="edu:source" descr="{&quot;edu_ppt&quot;: {&quot;id&quot;: &quot;N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pp.2,8–9; Nicolson et al., 2022 · §2.1–2.2; §3.3</a:t>
            </a:r>
          </a:p>
        </p:txBody>
      </p:sp>
      <p:sp>
        <p:nvSpPr>
          <p:cNvPr id="9" name="edu:number" descr="{&quot;edu_ppt&quot;: {&quot;id&quot;: &quot;N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随机比较的是常规访视中增加NBO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两组均有常规访视，研究检验NBO的增量。</a:t>
            </a:r>
          </a:p>
        </p:txBody>
      </p:sp>
      <p:sp>
        <p:nvSpPr>
          <p:cNvPr id="5" name="edu:body" descr="{&quot;edu_ppt&quot;: {&quot;id&quot;: &quot;N04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56人随机分组；正文报告研究样本为54人。</a:t>
            </a:r>
          </a:p>
        </p:txBody>
      </p:sp>
      <p:sp>
        <p:nvSpPr>
          <p:cNvPr id="6" name="edu:body" descr="{&quot;edu_ppt&quot;: {&quot;id&quot;: &quot;N04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NBO组：常规照护＋共同观察。</a:t>
            </a:r>
          </a:p>
        </p:txBody>
      </p:sp>
      <p:sp>
        <p:nvSpPr>
          <p:cNvPr id="7" name="edu:body" descr="{&quot;edu_ppt&quot;: {&quot;id&quot;: &quot;N04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对照组：相同访视次数的常规照护。</a:t>
            </a:r>
          </a:p>
        </p:txBody>
      </p:sp>
      <p:sp>
        <p:nvSpPr>
          <p:cNvPr id="8" name="edu:body" descr="{&quot;edu_ppt&quot;: {&quot;id&quot;: &quot;N04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母亲知道接受什么；EAS编码者对组别设盲。</a:t>
            </a:r>
          </a:p>
        </p:txBody>
      </p:sp>
      <p:sp>
        <p:nvSpPr>
          <p:cNvPr id="9" name="edu:source" descr="{&quot;edu_ppt&quot;: {&quot;id&quot;: &quot;N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pp.3,6</a:t>
            </a:r>
          </a:p>
        </p:txBody>
      </p:sp>
      <p:sp>
        <p:nvSpPr>
          <p:cNvPr id="10" name="edu:number" descr="{&quot;edu_ppt&quot;: {&quot;id&quot;: &quot;N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5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从217人筛查到56人随机分组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5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56人随机进入试验，随后两人未完成问卷。</a:t>
            </a:r>
          </a:p>
        </p:txBody>
      </p:sp>
      <p:sp>
        <p:nvSpPr>
          <p:cNvPr id="5" name="edu:body" descr="{&quot;edu_ppt&quot;: {&quot;id&quot;: &quot;N05/body/0&quot;}}"/>
          <p:cNvSpPr txBox="1"/>
          <p:nvPr/>
        </p:nvSpPr>
        <p:spPr>
          <a:xfrm>
            <a:off x="670559" y="1657350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随机分组：两组各28人。</a:t>
            </a:r>
          </a:p>
        </p:txBody>
      </p:sp>
      <p:sp>
        <p:nvSpPr>
          <p:cNvPr id="6" name="edu:body" descr="{&quot;edu_ppt&quot;: {&quot;id&quot;: &quot;N05/body/1&quot;}}"/>
          <p:cNvSpPr txBox="1"/>
          <p:nvPr/>
        </p:nvSpPr>
        <p:spPr>
          <a:xfrm>
            <a:off x="670559" y="2306574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正文概括样本：NBO26人，对照28人。</a:t>
            </a:r>
          </a:p>
        </p:txBody>
      </p:sp>
      <p:sp>
        <p:nvSpPr>
          <p:cNvPr id="7" name="edu:process" descr="{&quot;edu_ppt&quot;: {&quot;id&quot;: &quot;N05/visual/node/0&quot;}}"/>
          <p:cNvSpPr/>
          <p:nvPr/>
        </p:nvSpPr>
        <p:spPr>
          <a:xfrm>
            <a:off x="5010911" y="1657350"/>
            <a:ext cx="6510527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筛查217人 → 符合条件60人</a:t>
            </a:r>
          </a:p>
        </p:txBody>
      </p:sp>
      <p:sp>
        <p:nvSpPr>
          <p:cNvPr id="8" name="edu:process" descr="{&quot;edu_ppt&quot;: {&quot;id&quot;: &quot;N05/visual/node/1&quot;}}"/>
          <p:cNvSpPr/>
          <p:nvPr/>
        </p:nvSpPr>
        <p:spPr>
          <a:xfrm>
            <a:off x="5010911" y="2706624"/>
            <a:ext cx="6510527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同意并随机56人：两组各28人</a:t>
            </a:r>
          </a:p>
        </p:txBody>
      </p:sp>
      <p:sp>
        <p:nvSpPr>
          <p:cNvPr id="9" name="edu:process" descr="{&quot;edu_ppt&quot;: {&quot;id&quot;: &quot;N05/visual/node/2&quot;}}"/>
          <p:cNvSpPr/>
          <p:nvPr/>
        </p:nvSpPr>
        <p:spPr>
          <a:xfrm>
            <a:off x="5010911" y="3755898"/>
            <a:ext cx="6510527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NBO组退出2人；对照组无此退出</a:t>
            </a:r>
          </a:p>
        </p:txBody>
      </p:sp>
      <p:sp>
        <p:nvSpPr>
          <p:cNvPr id="10" name="edu:process" descr="{&quot;edu_ppt&quot;: {&quot;id&quot;: &quot;N05/visual/node/3&quot;}}"/>
          <p:cNvSpPr/>
          <p:nvPr/>
        </p:nvSpPr>
        <p:spPr>
          <a:xfrm>
            <a:off x="5010911" y="4805172"/>
            <a:ext cx="6510527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原文概括研究样本：26＋28＝54人</a:t>
            </a:r>
          </a:p>
        </p:txBody>
      </p:sp>
      <p:cxnSp>
        <p:nvCxnSpPr>
          <p:cNvPr id="11" name="edu:arrow" descr="{&quot;edu_ppt&quot;: {&quot;id&quot;: &quot;N05/visual/edge/0&quot;, &quot;start&quot;: &quot;visual/node/0&quot;, &quot;end&quot;: &quot;visual/node/1&quot;}}"/>
          <p:cNvCxnSpPr>
            <a:stCxn id="7" idx="2"/>
            <a:endCxn id="8" idx="0"/>
          </p:cNvCxnSpPr>
          <p:nvPr/>
        </p:nvCxnSpPr>
        <p:spPr>
          <a:xfrm>
            <a:off x="8266174" y="2414015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du:arrow" descr="{&quot;edu_ppt&quot;: {&quot;id&quot;: &quot;N05/visual/edge/1&quot;, &quot;start&quot;: &quot;visual/node/1&quot;, &quot;end&quot;: &quot;visual/node/2&quot;}}"/>
          <p:cNvCxnSpPr>
            <a:stCxn id="8" idx="2"/>
            <a:endCxn id="9" idx="0"/>
          </p:cNvCxnSpPr>
          <p:nvPr/>
        </p:nvCxnSpPr>
        <p:spPr>
          <a:xfrm>
            <a:off x="8266174" y="3463289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du:arrow" descr="{&quot;edu_ppt&quot;: {&quot;id&quot;: &quot;N05/visual/edge/2&quot;, &quot;start&quot;: &quot;visual/node/2&quot;, &quot;end&quot;: &quot;visual/node/3&quot;}}"/>
          <p:cNvCxnSpPr>
            <a:stCxn id="9" idx="2"/>
            <a:endCxn id="10" idx="0"/>
          </p:cNvCxnSpPr>
          <p:nvPr/>
        </p:nvCxnSpPr>
        <p:spPr>
          <a:xfrm>
            <a:off x="8266174" y="4512563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u:caption" descr="{&quot;edu_ppt&quot;: {&quot;id&quot;: &quot;N05/visual/caption&quot;}}"/>
          <p:cNvSpPr txBox="1"/>
          <p:nvPr/>
        </p:nvSpPr>
        <p:spPr>
          <a:xfrm>
            <a:off x="5010911" y="5580125"/>
            <a:ext cx="6510527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据Fig.1重排；不同指标的分析分母另见各表。</a:t>
            </a:r>
          </a:p>
        </p:txBody>
      </p:sp>
      <p:sp>
        <p:nvSpPr>
          <p:cNvPr id="15" name="edu:source" descr="{&quot;edu_ppt&quot;: {&quot;id&quot;: &quot;N05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p.4 Fig.1</a:t>
            </a:r>
          </a:p>
        </p:txBody>
      </p:sp>
      <p:sp>
        <p:nvSpPr>
          <p:cNvPr id="16" name="edu:number" descr="{&quot;edu_ppt&quot;: {&quot;id&quot;: &quot;N05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6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NBO让母亲参与观察和回应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6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护士与母亲共同观察婴儿信号，并讨论相应的回应方式。</a:t>
            </a:r>
          </a:p>
        </p:txBody>
      </p:sp>
      <p:sp>
        <p:nvSpPr>
          <p:cNvPr id="5" name="edu:body" descr="{&quot;edu_ppt&quot;: {&quot;id&quot;: &quot;N06/body/0&quot;}}"/>
          <p:cNvSpPr txBox="1"/>
          <p:nvPr/>
        </p:nvSpPr>
        <p:spPr>
          <a:xfrm>
            <a:off x="670559" y="1657350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第2、3、4周访视。</a:t>
            </a:r>
          </a:p>
        </p:txBody>
      </p:sp>
      <p:sp>
        <p:nvSpPr>
          <p:cNvPr id="6" name="edu:body" descr="{&quot;edu_ppt&quot;: {&quot;id&quot;: &quot;N06/body/1&quot;}}"/>
          <p:cNvSpPr txBox="1"/>
          <p:nvPr/>
        </p:nvSpPr>
        <p:spPr>
          <a:xfrm>
            <a:off x="670559" y="2306574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按婴儿状态选择观察。</a:t>
            </a:r>
          </a:p>
        </p:txBody>
      </p:sp>
      <p:sp>
        <p:nvSpPr>
          <p:cNvPr id="7" name="edu:body" descr="{&quot;edu_ppt&quot;: {&quot;id&quot;: &quot;N06/body/2&quot;}}"/>
          <p:cNvSpPr txBox="1"/>
          <p:nvPr/>
        </p:nvSpPr>
        <p:spPr>
          <a:xfrm>
            <a:off x="670559" y="2955798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共同讨论信号与回应。</a:t>
            </a:r>
          </a:p>
        </p:txBody>
      </p:sp>
      <p:sp>
        <p:nvSpPr>
          <p:cNvPr id="8" name="edu:process" descr="{&quot;edu_ppt&quot;: {&quot;id&quot;: &quot;N06/visual/node/0&quot;}}"/>
          <p:cNvSpPr/>
          <p:nvPr/>
        </p:nvSpPr>
        <p:spPr>
          <a:xfrm>
            <a:off x="5010911" y="165735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观察婴儿状态</a:t>
            </a:r>
          </a:p>
        </p:txBody>
      </p:sp>
      <p:sp>
        <p:nvSpPr>
          <p:cNvPr id="9" name="edu:process" descr="{&quot;edu_ppt&quot;: {&quot;id&quot;: &quot;N06/visual/node/1&quot;}}"/>
          <p:cNvSpPr/>
          <p:nvPr/>
        </p:nvSpPr>
        <p:spPr>
          <a:xfrm>
            <a:off x="5010911" y="275463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共同识别信号</a:t>
            </a:r>
          </a:p>
        </p:txBody>
      </p:sp>
      <p:sp>
        <p:nvSpPr>
          <p:cNvPr id="10" name="edu:process" descr="{&quot;edu_ppt&quot;: {&quot;id&quot;: &quot;N06/visual/node/2&quot;}}"/>
          <p:cNvSpPr/>
          <p:nvPr/>
        </p:nvSpPr>
        <p:spPr>
          <a:xfrm>
            <a:off x="5010911" y="385191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尝试合适回应</a:t>
            </a:r>
          </a:p>
        </p:txBody>
      </p:sp>
      <p:sp>
        <p:nvSpPr>
          <p:cNvPr id="11" name="edu:process" descr="{&quot;edu_ppt&quot;: {&quot;id&quot;: &quot;N06/visual/node/3&quot;}}"/>
          <p:cNvSpPr/>
          <p:nvPr/>
        </p:nvSpPr>
        <p:spPr>
          <a:xfrm>
            <a:off x="5010911" y="4949190"/>
            <a:ext cx="6510527" cy="804672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回顾观察与策略</a:t>
            </a:r>
          </a:p>
        </p:txBody>
      </p:sp>
      <p:cxnSp>
        <p:nvCxnSpPr>
          <p:cNvPr id="12" name="edu:arrow" descr="{&quot;edu_ppt&quot;: {&quot;id&quot;: &quot;N06/visual/edge/0&quot;, &quot;start&quot;: &quot;visual/node/0&quot;, &quot;end&quot;: &quot;visual/node/1&quot;}}"/>
          <p:cNvCxnSpPr>
            <a:stCxn id="8" idx="2"/>
            <a:endCxn id="9" idx="0"/>
          </p:cNvCxnSpPr>
          <p:nvPr/>
        </p:nvCxnSpPr>
        <p:spPr>
          <a:xfrm>
            <a:off x="8266174" y="246202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du:arrow" descr="{&quot;edu_ppt&quot;: {&quot;id&quot;: &quot;N06/visual/edge/1&quot;, &quot;start&quot;: &quot;visual/node/1&quot;, &quot;end&quot;: &quot;visual/node/2&quot;}}"/>
          <p:cNvCxnSpPr>
            <a:stCxn id="9" idx="2"/>
            <a:endCxn id="10" idx="0"/>
          </p:cNvCxnSpPr>
          <p:nvPr/>
        </p:nvCxnSpPr>
        <p:spPr>
          <a:xfrm>
            <a:off x="8266174" y="355930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u:arrow" descr="{&quot;edu_ppt&quot;: {&quot;id&quot;: &quot;N06/visual/edge/2&quot;, &quot;start&quot;: &quot;visual/node/2&quot;, &quot;end&quot;: &quot;visual/node/3&quot;}}"/>
          <p:cNvCxnSpPr>
            <a:stCxn id="10" idx="2"/>
            <a:endCxn id="11" idx="0"/>
          </p:cNvCxnSpPr>
          <p:nvPr/>
        </p:nvCxnSpPr>
        <p:spPr>
          <a:xfrm>
            <a:off x="8266174" y="4656582"/>
            <a:ext cx="0" cy="292608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u:source" descr="{&quot;edu_ppt&quot;: {&quot;id&quot;: &quot;N06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pp.3,5 Intervention</a:t>
            </a:r>
          </a:p>
        </p:txBody>
      </p:sp>
      <p:sp>
        <p:nvSpPr>
          <p:cNvPr id="16" name="edu:number" descr="{&quot;edu_ppt&quot;: {&quot;id&quot;: &quot;N06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7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两类结局对应两种分析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7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自评追踪近期学习，录像评分考察四个月时的互动。</a:t>
            </a:r>
          </a:p>
        </p:txBody>
      </p:sp>
      <p:graphicFrame>
        <p:nvGraphicFramePr>
          <p:cNvPr id="5" name="edu:table" descr="{&quot;edu_ppt&quot;: {&quot;id&quot;: &quot;N07/visual/table&quot;}}"/>
          <p:cNvGraphicFramePr>
            <a:graphicFrameLocks noGrp="1"/>
          </p:cNvGraphicFramePr>
          <p:nvPr/>
        </p:nvGraphicFramePr>
        <p:xfrm>
          <a:off x="670559" y="1657350"/>
          <a:ext cx="1085087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732"/>
                <a:gridCol w="3338732"/>
                <a:gridCol w="4173415"/>
              </a:tblGrid>
              <a:tr h="108585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08585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家长问卷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产后第2、3、4周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混合效应模型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08585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20分钟互动录像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产后4个月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EAS六维评分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互动组间比较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同一观察时点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未调整＋调整模型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source" descr="{&quot;edu_ppt&quot;: {&quot;id&quot;: &quot;N07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pp.5–7; Tables 2,6,7</a:t>
            </a:r>
          </a:p>
        </p:txBody>
      </p:sp>
      <p:sp>
        <p:nvSpPr>
          <p:cNvPr id="7" name="edu:number" descr="{&quot;edu_ppt&quot;: {&quot;id&quot;: &quot;N07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8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母亲报告学到了更多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8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仅调整时间的模型中，两项自评量表均有正向组间差。</a:t>
            </a:r>
          </a:p>
        </p:txBody>
      </p:sp>
      <p:cxnSp>
        <p:nvCxnSpPr>
          <p:cNvPr id="5" name="edu:line" descr="{&quot;edu_ppt&quot;: {&quot;id&quot;: &quot;N08/visual/reference&quot;, &quot;value&quot;: 0}}"/>
          <p:cNvCxnSpPr/>
          <p:nvPr/>
        </p:nvCxnSpPr>
        <p:spPr>
          <a:xfrm>
            <a:off x="3817314" y="1657350"/>
            <a:ext cx="0" cy="164592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N08/visual/axis-line&quot;, &quot;range&quot;: [0, 1.5], &quot;scale&quot;: &quot;linear&quot;, &quot;unit&quot;: &quot;问卷分数差&quot;}}"/>
          <p:cNvCxnSpPr/>
          <p:nvPr/>
        </p:nvCxnSpPr>
        <p:spPr>
          <a:xfrm>
            <a:off x="3817314" y="332155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N08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了解婴儿能力</a:t>
            </a:r>
          </a:p>
        </p:txBody>
      </p:sp>
      <p:cxnSp>
        <p:nvCxnSpPr>
          <p:cNvPr id="8" name="edu:line" descr="{&quot;edu_ppt&quot;: {&quot;id&quot;: &quot;N08/visual/row/0/interval&quot;, &quot;low&quot;: 0.71, &quot;high&quot;: 1.31}}"/>
          <p:cNvCxnSpPr/>
          <p:nvPr/>
        </p:nvCxnSpPr>
        <p:spPr>
          <a:xfrm>
            <a:off x="5769026" y="2068830"/>
            <a:ext cx="1649333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N08/visual/row/0/estimate&quot;, &quot;value&quot;: 1.01}}"/>
          <p:cNvSpPr/>
          <p:nvPr/>
        </p:nvSpPr>
        <p:spPr>
          <a:xfrm>
            <a:off x="6543401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N08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1.01 [0.71, 1.31]</a:t>
            </a:r>
          </a:p>
        </p:txBody>
      </p:sp>
      <p:sp>
        <p:nvSpPr>
          <p:cNvPr id="11" name="edu:interval-label" descr="{&quot;edu_ppt&quot;: {&quot;id&quot;: &quot;N08/visual/row/1/label&quot;}}"/>
          <p:cNvSpPr txBox="1"/>
          <p:nvPr/>
        </p:nvSpPr>
        <p:spPr>
          <a:xfrm>
            <a:off x="670559" y="266319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家长能力与信心</a:t>
            </a:r>
          </a:p>
        </p:txBody>
      </p:sp>
      <p:cxnSp>
        <p:nvCxnSpPr>
          <p:cNvPr id="12" name="edu:line" descr="{&quot;edu_ppt&quot;: {&quot;id&quot;: &quot;N08/visual/row/1/interval&quot;, &quot;low&quot;: 0.57, &quot;high&quot;: 1.23}}"/>
          <p:cNvCxnSpPr/>
          <p:nvPr/>
        </p:nvCxnSpPr>
        <p:spPr>
          <a:xfrm>
            <a:off x="5384181" y="2891790"/>
            <a:ext cx="1814267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point" descr="{&quot;edu_ppt&quot;: {&quot;id&quot;: &quot;N08/visual/row/1/estimate&quot;, &quot;value&quot;: 0.9}}"/>
          <p:cNvSpPr/>
          <p:nvPr/>
        </p:nvSpPr>
        <p:spPr>
          <a:xfrm>
            <a:off x="6241023" y="284149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:interval-value" descr="{&quot;edu_ppt&quot;: {&quot;id&quot;: &quot;N08/visual/row/1/display&quot;}}"/>
          <p:cNvSpPr txBox="1"/>
          <p:nvPr/>
        </p:nvSpPr>
        <p:spPr>
          <a:xfrm>
            <a:off x="8157666" y="266319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0.90 [0.57, 1.23]</a:t>
            </a:r>
          </a:p>
        </p:txBody>
      </p:sp>
      <p:sp>
        <p:nvSpPr>
          <p:cNvPr id="15" name="edu:axis" descr="{&quot;edu_ppt&quot;: {&quot;id&quot;: &quot;N08/visual/axis-label&quot;}}"/>
          <p:cNvSpPr txBox="1"/>
          <p:nvPr/>
        </p:nvSpPr>
        <p:spPr>
          <a:xfrm>
            <a:off x="3817314" y="334898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0 ← 问卷分数差 → 1.5</a:t>
            </a:r>
          </a:p>
        </p:txBody>
      </p:sp>
      <p:sp>
        <p:nvSpPr>
          <p:cNvPr id="16" name="edu:reference-label" descr="{&quot;edu_ppt&quot;: {&quot;id&quot;: &quot;N08/visual/reference-label&quot;}}"/>
          <p:cNvSpPr txBox="1"/>
          <p:nvPr/>
        </p:nvSpPr>
        <p:spPr>
          <a:xfrm>
            <a:off x="670559" y="334898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7" name="edu:caption" descr="{&quot;edu_ppt&quot;: {&quot;id&quot;: &quot;N08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仅调整时间的组间分数差；区间按表6；问卷分量表缺正式验证。</a:t>
            </a:r>
          </a:p>
        </p:txBody>
      </p:sp>
      <p:sp>
        <p:nvSpPr>
          <p:cNvPr id="18" name="edu:source" descr="{&quot;edu_ppt&quot;: {&quot;id&quot;: &quot;N08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p.9 Table 6</a:t>
            </a:r>
          </a:p>
        </p:txBody>
      </p:sp>
      <p:sp>
        <p:nvSpPr>
          <p:cNvPr id="19" name="edu:number" descr="{&quot;edu_ppt&quot;: {&quot;id&quot;: &quot;N08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09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四个月时，多数互动维度仍未得到明确答案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09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调整后仅非敌意的区间不含零，其他维度的差异仍不确定。</a:t>
            </a:r>
          </a:p>
        </p:txBody>
      </p:sp>
      <p:cxnSp>
        <p:nvCxnSpPr>
          <p:cNvPr id="5" name="edu:line" descr="{&quot;edu_ppt&quot;: {&quot;id&quot;: &quot;N09/visual/reference&quot;, &quot;value&quot;: 0}}"/>
          <p:cNvCxnSpPr/>
          <p:nvPr/>
        </p:nvCxnSpPr>
        <p:spPr>
          <a:xfrm>
            <a:off x="5191759" y="1657350"/>
            <a:ext cx="0" cy="3355848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N09/visual/axis-line&quot;, &quot;range&quot;: [-3, 6], &quot;scale&quot;: &quot;linear&quot;, &quot;unit&quot;: &quot;EAS分数差&quot;}}"/>
          <p:cNvCxnSpPr/>
          <p:nvPr/>
        </p:nvCxnSpPr>
        <p:spPr>
          <a:xfrm>
            <a:off x="3817314" y="5031486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N09/visual/row/0/label&quot;}}"/>
          <p:cNvSpPr txBox="1"/>
          <p:nvPr/>
        </p:nvSpPr>
        <p:spPr>
          <a:xfrm>
            <a:off x="670559" y="1708403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敏感性</a:t>
            </a:r>
          </a:p>
        </p:txBody>
      </p:sp>
      <p:cxnSp>
        <p:nvCxnSpPr>
          <p:cNvPr id="8" name="edu:line" descr="{&quot;edu_ppt&quot;: {&quot;id&quot;: &quot;N09/visual/row/0/interval&quot;, &quot;low&quot;: -1.56, &quot;high&quot;: 4.67}}"/>
          <p:cNvCxnSpPr/>
          <p:nvPr/>
        </p:nvCxnSpPr>
        <p:spPr>
          <a:xfrm>
            <a:off x="4477048" y="1937003"/>
            <a:ext cx="2854263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N09/visual/row/0/estimate&quot;, &quot;value&quot;: 1.55}}"/>
          <p:cNvSpPr/>
          <p:nvPr/>
        </p:nvSpPr>
        <p:spPr>
          <a:xfrm>
            <a:off x="5851597" y="1886711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N09/visual/row/0/display&quot;}}"/>
          <p:cNvSpPr txBox="1"/>
          <p:nvPr/>
        </p:nvSpPr>
        <p:spPr>
          <a:xfrm>
            <a:off x="8157666" y="1708403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1.55 [-1.56, 4.67]</a:t>
            </a:r>
          </a:p>
        </p:txBody>
      </p:sp>
      <p:sp>
        <p:nvSpPr>
          <p:cNvPr id="11" name="edu:interval-label" descr="{&quot;edu_ppt&quot;: {&quot;id&quot;: &quot;N09/visual/row/1/label&quot;}}"/>
          <p:cNvSpPr txBox="1"/>
          <p:nvPr/>
        </p:nvSpPr>
        <p:spPr>
          <a:xfrm>
            <a:off x="670559" y="2267711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组织性</a:t>
            </a:r>
          </a:p>
        </p:txBody>
      </p:sp>
      <p:cxnSp>
        <p:nvCxnSpPr>
          <p:cNvPr id="12" name="edu:line" descr="{&quot;edu_ppt&quot;: {&quot;id&quot;: &quot;N09/visual/row/1/interval&quot;, &quot;low&quot;: -0.69, &quot;high&quot;: 5.86}}"/>
          <p:cNvCxnSpPr/>
          <p:nvPr/>
        </p:nvCxnSpPr>
        <p:spPr>
          <a:xfrm>
            <a:off x="4875637" y="2496311"/>
            <a:ext cx="3000871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point" descr="{&quot;edu_ppt&quot;: {&quot;id&quot;: &quot;N09/visual/row/1/estimate&quot;, &quot;value&quot;: 2.58}}"/>
          <p:cNvSpPr/>
          <p:nvPr/>
        </p:nvSpPr>
        <p:spPr>
          <a:xfrm>
            <a:off x="6323490" y="2446019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:interval-value" descr="{&quot;edu_ppt&quot;: {&quot;id&quot;: &quot;N09/visual/row/1/display&quot;}}"/>
          <p:cNvSpPr txBox="1"/>
          <p:nvPr/>
        </p:nvSpPr>
        <p:spPr>
          <a:xfrm>
            <a:off x="8157666" y="2267711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2.58 [-0.69, 5.86]</a:t>
            </a:r>
          </a:p>
        </p:txBody>
      </p:sp>
      <p:sp>
        <p:nvSpPr>
          <p:cNvPr id="15" name="edu:interval-label" descr="{&quot;edu_ppt&quot;: {&quot;id&quot;: &quot;N09/visual/row/2/label&quot;}}"/>
          <p:cNvSpPr txBox="1"/>
          <p:nvPr/>
        </p:nvSpPr>
        <p:spPr>
          <a:xfrm>
            <a:off x="670559" y="2827019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非侵入性</a:t>
            </a:r>
          </a:p>
        </p:txBody>
      </p:sp>
      <p:cxnSp>
        <p:nvCxnSpPr>
          <p:cNvPr id="16" name="edu:line" descr="{&quot;edu_ppt&quot;: {&quot;id&quot;: &quot;N09/visual/row/2/interval&quot;, &quot;low&quot;: -1.5, &quot;high&quot;: 5.14}}"/>
          <p:cNvCxnSpPr/>
          <p:nvPr/>
        </p:nvCxnSpPr>
        <p:spPr>
          <a:xfrm>
            <a:off x="4504537" y="3055619"/>
            <a:ext cx="3042104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u:point" descr="{&quot;edu_ppt&quot;: {&quot;id&quot;: &quot;N09/visual/row/2/estimate&quot;, &quot;value&quot;: 1.82}}"/>
          <p:cNvSpPr/>
          <p:nvPr/>
        </p:nvSpPr>
        <p:spPr>
          <a:xfrm>
            <a:off x="5975297" y="3005327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u:interval-value" descr="{&quot;edu_ppt&quot;: {&quot;id&quot;: &quot;N09/visual/row/2/display&quot;}}"/>
          <p:cNvSpPr txBox="1"/>
          <p:nvPr/>
        </p:nvSpPr>
        <p:spPr>
          <a:xfrm>
            <a:off x="8157666" y="2827019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1.82 [-1.50, 5.14]</a:t>
            </a:r>
          </a:p>
        </p:txBody>
      </p:sp>
      <p:sp>
        <p:nvSpPr>
          <p:cNvPr id="19" name="edu:interval-label" descr="{&quot;edu_ppt&quot;: {&quot;id&quot;: &quot;N09/visual/row/3/label&quot;}}"/>
          <p:cNvSpPr txBox="1"/>
          <p:nvPr/>
        </p:nvSpPr>
        <p:spPr>
          <a:xfrm>
            <a:off x="670559" y="3386328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非敌意</a:t>
            </a:r>
          </a:p>
        </p:txBody>
      </p:sp>
      <p:cxnSp>
        <p:nvCxnSpPr>
          <p:cNvPr id="20" name="edu:line" descr="{&quot;edu_ppt&quot;: {&quot;id&quot;: &quot;N09/visual/row/3/interval&quot;, &quot;low&quot;: 0.19, &quot;high&quot;: 3.62}}"/>
          <p:cNvCxnSpPr/>
          <p:nvPr/>
        </p:nvCxnSpPr>
        <p:spPr>
          <a:xfrm>
            <a:off x="5278807" y="3614928"/>
            <a:ext cx="1571449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u:point" descr="{&quot;edu_ppt&quot;: {&quot;id&quot;: &quot;N09/visual/row/3/estimate&quot;, &quot;value&quot;: 1.9}}"/>
          <p:cNvSpPr/>
          <p:nvPr/>
        </p:nvSpPr>
        <p:spPr>
          <a:xfrm>
            <a:off x="6011949" y="3564635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u:interval-value" descr="{&quot;edu_ppt&quot;: {&quot;id&quot;: &quot;N09/visual/row/3/display&quot;}}"/>
          <p:cNvSpPr txBox="1"/>
          <p:nvPr/>
        </p:nvSpPr>
        <p:spPr>
          <a:xfrm>
            <a:off x="8157666" y="3386328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1.90 [0.19, 3.62]</a:t>
            </a:r>
          </a:p>
        </p:txBody>
      </p:sp>
      <p:sp>
        <p:nvSpPr>
          <p:cNvPr id="23" name="edu:interval-label" descr="{&quot;edu_ppt&quot;: {&quot;id&quot;: &quot;N09/visual/row/4/label&quot;}}"/>
          <p:cNvSpPr txBox="1"/>
          <p:nvPr/>
        </p:nvSpPr>
        <p:spPr>
          <a:xfrm>
            <a:off x="670559" y="3945635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婴儿回应</a:t>
            </a:r>
          </a:p>
        </p:txBody>
      </p:sp>
      <p:cxnSp>
        <p:nvCxnSpPr>
          <p:cNvPr id="24" name="edu:line" descr="{&quot;edu_ppt&quot;: {&quot;id&quot;: &quot;N09/visual/row/4/interval&quot;, &quot;low&quot;: -1.36, &quot;high&quot;: 4.1}}"/>
          <p:cNvCxnSpPr/>
          <p:nvPr/>
        </p:nvCxnSpPr>
        <p:spPr>
          <a:xfrm>
            <a:off x="4568677" y="4174235"/>
            <a:ext cx="2501490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u:point" descr="{&quot;edu_ppt&quot;: {&quot;id&quot;: &quot;N09/visual/row/4/estimate&quot;, &quot;value&quot;: 1.37}}"/>
          <p:cNvSpPr/>
          <p:nvPr/>
        </p:nvSpPr>
        <p:spPr>
          <a:xfrm>
            <a:off x="5769130" y="4123944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u:interval-value" descr="{&quot;edu_ppt&quot;: {&quot;id&quot;: &quot;N09/visual/row/4/display&quot;}}"/>
          <p:cNvSpPr txBox="1"/>
          <p:nvPr/>
        </p:nvSpPr>
        <p:spPr>
          <a:xfrm>
            <a:off x="8157666" y="3945635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1.37 [-1.36, 4.10]</a:t>
            </a:r>
          </a:p>
        </p:txBody>
      </p:sp>
      <p:sp>
        <p:nvSpPr>
          <p:cNvPr id="27" name="edu:interval-label" descr="{&quot;edu_ppt&quot;: {&quot;id&quot;: &quot;N09/visual/row/5/label&quot;}}"/>
          <p:cNvSpPr txBox="1"/>
          <p:nvPr/>
        </p:nvSpPr>
        <p:spPr>
          <a:xfrm>
            <a:off x="670559" y="4504943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婴儿参与</a:t>
            </a:r>
          </a:p>
        </p:txBody>
      </p:sp>
      <p:cxnSp>
        <p:nvCxnSpPr>
          <p:cNvPr id="28" name="edu:line" descr="{&quot;edu_ppt&quot;: {&quot;id&quot;: &quot;N09/visual/row/5/interval&quot;, &quot;low&quot;: -0.97, &quot;high&quot;: 4.94}}"/>
          <p:cNvCxnSpPr/>
          <p:nvPr/>
        </p:nvCxnSpPr>
        <p:spPr>
          <a:xfrm>
            <a:off x="4747355" y="4733543"/>
            <a:ext cx="2707656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u:point" descr="{&quot;edu_ppt&quot;: {&quot;id&quot;: &quot;N09/visual/row/5/estimate&quot;, &quot;value&quot;: 1.98}}"/>
          <p:cNvSpPr/>
          <p:nvPr/>
        </p:nvSpPr>
        <p:spPr>
          <a:xfrm>
            <a:off x="6048601" y="4683251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u:interval-value" descr="{&quot;edu_ppt&quot;: {&quot;id&quot;: &quot;N09/visual/row/5/display&quot;}}"/>
          <p:cNvSpPr txBox="1"/>
          <p:nvPr/>
        </p:nvSpPr>
        <p:spPr>
          <a:xfrm>
            <a:off x="8157666" y="4504943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1.98 [-0.97, 4.94]</a:t>
            </a:r>
          </a:p>
        </p:txBody>
      </p:sp>
      <p:sp>
        <p:nvSpPr>
          <p:cNvPr id="31" name="edu:axis" descr="{&quot;edu_ppt&quot;: {&quot;id&quot;: &quot;N09/visual/axis-label&quot;}}"/>
          <p:cNvSpPr txBox="1"/>
          <p:nvPr/>
        </p:nvSpPr>
        <p:spPr>
          <a:xfrm>
            <a:off x="3817314" y="5058918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-3 ← EAS分数差 → 6</a:t>
            </a:r>
          </a:p>
        </p:txBody>
      </p:sp>
      <p:sp>
        <p:nvSpPr>
          <p:cNvPr id="32" name="edu:reference-label" descr="{&quot;edu_ppt&quot;: {&quot;id&quot;: &quot;N09/visual/reference-label&quot;}}"/>
          <p:cNvSpPr txBox="1"/>
          <p:nvPr/>
        </p:nvSpPr>
        <p:spPr>
          <a:xfrm>
            <a:off x="670559" y="5058918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33" name="edu:caption" descr="{&quot;edu_ppt&quot;: {&quot;id&quot;: &quot;N09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调整性别、喂养和胎龄；点估计及95% CI，原文Table 7。</a:t>
            </a:r>
          </a:p>
        </p:txBody>
      </p:sp>
      <p:sp>
        <p:nvSpPr>
          <p:cNvPr id="34" name="edu:source" descr="{&quot;edu_ppt&quot;: {&quot;id&quot;: &quot;N09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p.9 Table 7</a:t>
            </a:r>
          </a:p>
        </p:txBody>
      </p:sp>
      <p:sp>
        <p:nvSpPr>
          <p:cNvPr id="35" name="edu:number" descr="{&quot;edu_ppt&quot;: {&quot;id&quot;: &quot;N09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0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非敌意的发现依赖分析设定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0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未调整区间含零；调整后为正，宜作为有限证据理解。</a:t>
            </a:r>
          </a:p>
        </p:txBody>
      </p:sp>
      <p:cxnSp>
        <p:nvCxnSpPr>
          <p:cNvPr id="5" name="edu:line" descr="{&quot;edu_ppt&quot;: {&quot;id&quot;: &quot;N10/visual/reference&quot;, &quot;value&quot;: 0}}"/>
          <p:cNvCxnSpPr/>
          <p:nvPr/>
        </p:nvCxnSpPr>
        <p:spPr>
          <a:xfrm>
            <a:off x="4641981" y="1657350"/>
            <a:ext cx="0" cy="164592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N10/visual/axis-line&quot;, &quot;range&quot;: [-1, 4], &quot;scale&quot;: &quot;linear&quot;, &quot;unit&quot;: &quot;非敌意分数差&quot;}}"/>
          <p:cNvCxnSpPr/>
          <p:nvPr/>
        </p:nvCxnSpPr>
        <p:spPr>
          <a:xfrm>
            <a:off x="3817314" y="332155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N10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未调整</a:t>
            </a:r>
          </a:p>
        </p:txBody>
      </p:sp>
      <p:cxnSp>
        <p:nvCxnSpPr>
          <p:cNvPr id="8" name="edu:line" descr="{&quot;edu_ppt&quot;: {&quot;id&quot;: &quot;N10/visual/row/0/interval&quot;, &quot;low&quot;: -0.85, &quot;high&quot;: 2.18}}"/>
          <p:cNvCxnSpPr/>
          <p:nvPr/>
        </p:nvCxnSpPr>
        <p:spPr>
          <a:xfrm>
            <a:off x="3941014" y="2068830"/>
            <a:ext cx="2498741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N10/visual/row/0/estimate&quot;, &quot;value&quot;: 0.67}}"/>
          <p:cNvSpPr/>
          <p:nvPr/>
        </p:nvSpPr>
        <p:spPr>
          <a:xfrm>
            <a:off x="5144216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N10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0.67 [-0.85, 2.18]</a:t>
            </a:r>
          </a:p>
        </p:txBody>
      </p:sp>
      <p:sp>
        <p:nvSpPr>
          <p:cNvPr id="11" name="edu:interval-label" descr="{&quot;edu_ppt&quot;: {&quot;id&quot;: &quot;N10/visual/row/1/label&quot;}}"/>
          <p:cNvSpPr txBox="1"/>
          <p:nvPr/>
        </p:nvSpPr>
        <p:spPr>
          <a:xfrm>
            <a:off x="670559" y="266319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调整后</a:t>
            </a:r>
          </a:p>
        </p:txBody>
      </p:sp>
      <p:cxnSp>
        <p:nvCxnSpPr>
          <p:cNvPr id="12" name="edu:line" descr="{&quot;edu_ppt&quot;: {&quot;id&quot;: &quot;N10/visual/row/1/interval&quot;, &quot;low&quot;: 0.19, &quot;high&quot;: 3.62}}"/>
          <p:cNvCxnSpPr/>
          <p:nvPr/>
        </p:nvCxnSpPr>
        <p:spPr>
          <a:xfrm>
            <a:off x="4798668" y="2891790"/>
            <a:ext cx="2828607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point" descr="{&quot;edu_ppt&quot;: {&quot;id&quot;: &quot;N10/visual/row/1/estimate&quot;, &quot;value&quot;: 1.9}}"/>
          <p:cNvSpPr/>
          <p:nvPr/>
        </p:nvSpPr>
        <p:spPr>
          <a:xfrm>
            <a:off x="6158556" y="284149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:interval-value" descr="{&quot;edu_ppt&quot;: {&quot;id&quot;: &quot;N10/visual/row/1/display&quot;}}"/>
          <p:cNvSpPr txBox="1"/>
          <p:nvPr/>
        </p:nvSpPr>
        <p:spPr>
          <a:xfrm>
            <a:off x="8157666" y="266319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1.90 [0.19, 3.62]</a:t>
            </a:r>
          </a:p>
        </p:txBody>
      </p:sp>
      <p:sp>
        <p:nvSpPr>
          <p:cNvPr id="15" name="edu:axis" descr="{&quot;edu_ppt&quot;: {&quot;id&quot;: &quot;N10/visual/axis-label&quot;}}"/>
          <p:cNvSpPr txBox="1"/>
          <p:nvPr/>
        </p:nvSpPr>
        <p:spPr>
          <a:xfrm>
            <a:off x="3817314" y="334898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-1 ← 非敌意分数差 → 4</a:t>
            </a:r>
          </a:p>
        </p:txBody>
      </p:sp>
      <p:sp>
        <p:nvSpPr>
          <p:cNvPr id="16" name="edu:reference-label" descr="{&quot;edu_ppt&quot;: {&quot;id&quot;: &quot;N10/visual/reference-label&quot;}}"/>
          <p:cNvSpPr txBox="1"/>
          <p:nvPr/>
        </p:nvSpPr>
        <p:spPr>
          <a:xfrm>
            <a:off x="670559" y="334898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7" name="edu:caption" descr="{&quot;edu_ppt&quot;: {&quot;id&quot;: &quot;N10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95% CI；未调整p = .383，调整后p = .031。</a:t>
            </a:r>
          </a:p>
        </p:txBody>
      </p:sp>
      <p:sp>
        <p:nvSpPr>
          <p:cNvPr id="18" name="edu:source" descr="{&quot;edu_ppt&quot;: {&quot;id&quot;: &quot;N10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p.9 Table 7</a:t>
            </a:r>
          </a:p>
        </p:txBody>
      </p:sp>
      <p:sp>
        <p:nvSpPr>
          <p:cNvPr id="19" name="edu:number" descr="{&quot;edu_ppt&quot;: {&quot;id&quot;: &quot;N10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0B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和最接近的澳大利亚试验放在一起看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0B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本文把NBO放进同次数常规访视，补充了自评与互动观察证据。</a:t>
            </a:r>
          </a:p>
        </p:txBody>
      </p:sp>
      <p:graphicFrame>
        <p:nvGraphicFramePr>
          <p:cNvPr id="5" name="edu:table" descr="{&quot;edu_ppt&quot;: {&quot;id&quot;: &quot;N10B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422"/>
                <a:gridCol w="4286767"/>
                <a:gridCol w="4554689"/>
              </a:tblGrid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对照维度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澳大利亚（2022）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冰岛（2025）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有风险的初产妇；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互动分析完成者74人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有风险母亲，含经产妇；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正文样本54人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三次NBO＋常规治疗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对常规治疗；未等时接触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三次NBO＋常规访视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对同次数常规访视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观察与分析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4个月EAS；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多变量及后续维度比较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4个月EAS；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未调整与协变量调整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780899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敏感性、非侵入性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得分较高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非敌意仅调整后区间不含零；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其余差异仍不确定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N10B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显著性不同不等于研究结论冲突；对象与照护差别是解释线索，尚未被直接比较。</a:t>
            </a:r>
          </a:p>
        </p:txBody>
      </p:sp>
      <p:sp>
        <p:nvSpPr>
          <p:cNvPr id="7" name="edu:source" descr="{&quot;edu_ppt&quot;: {&quot;id&quot;: &quot;N10B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Nicolson et al., 2022 · §2.1–2.5; §3.3/Table 4; Valla et al., 2025 · pp.3,6,9/Table 7</a:t>
            </a:r>
          </a:p>
        </p:txBody>
      </p:sp>
      <p:sp>
        <p:nvSpPr>
          <p:cNvPr id="8" name="edu:number" descr="{&quot;edu_ppt&quot;: {&quot;id&quot;: &quot;N10B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理解婴儿信号如何转化为更少的负面回应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作者提出“理解调节需要—增进共情”的解释，本文未直接检验。</a:t>
            </a:r>
          </a:p>
        </p:txBody>
      </p:sp>
      <p:sp>
        <p:nvSpPr>
          <p:cNvPr id="5" name="edu:body" descr="{&quot;edu_ppt&quot;: {&quot;id&quot;: &quot;N11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作者解释：理解哭泣与失调背后的需要，有助于共情。</a:t>
            </a:r>
          </a:p>
        </p:txBody>
      </p:sp>
      <p:sp>
        <p:nvSpPr>
          <p:cNvPr id="6" name="edu:body" descr="{&quot;edu_ppt&quot;: {&quot;id&quot;: &quot;N11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剂量、观察时程和原有服务是候选解释。</a:t>
            </a:r>
          </a:p>
        </p:txBody>
      </p:sp>
      <p:sp>
        <p:nvSpPr>
          <p:cNvPr id="7" name="edu:body" descr="{&quot;edu_ppt&quot;: {&quot;id&quot;: &quot;N11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研究借鉴：下一步应同时记录过程与行为。</a:t>
            </a:r>
          </a:p>
        </p:txBody>
      </p:sp>
      <p:sp>
        <p:nvSpPr>
          <p:cNvPr id="8" name="edu:source" descr="{&quot;edu_ppt&quot;: {&quot;id&quot;: &quot;N1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pp.8–9 Discussion</a:t>
            </a:r>
          </a:p>
        </p:txBody>
      </p:sp>
      <p:sp>
        <p:nvSpPr>
          <p:cNvPr id="9" name="edu:number" descr="{&quot;edu_ppt&quot;: {&quot;id&quot;: &quot;N1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哪些条件影响这项证据的用途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小样本、测量与实施记录限制了结果的推广和解释。</a:t>
            </a:r>
          </a:p>
        </p:txBody>
      </p:sp>
      <p:sp>
        <p:nvSpPr>
          <p:cNvPr id="5" name="edu:body" descr="{&quot;edu_ppt&quot;: {&quot;id&quot;: &quot;N12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样本较小，部分互动差异估计仍不精确。</a:t>
            </a:r>
          </a:p>
        </p:txBody>
      </p:sp>
      <p:sp>
        <p:nvSpPr>
          <p:cNvPr id="6" name="edu:body" descr="{&quot;edu_ppt&quot;: {&quot;id&quot;: &quot;N12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缺少实施忠实度测量，问卷分量表缺正式验证。</a:t>
            </a:r>
          </a:p>
        </p:txBody>
      </p:sp>
      <p:sp>
        <p:nvSpPr>
          <p:cNvPr id="7" name="edu:body" descr="{&quot;edu_ppt&quot;: {&quot;id&quot;: &quot;N12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部分分析样本数报告有不一致，需保留疑点。</a:t>
            </a:r>
          </a:p>
        </p:txBody>
      </p:sp>
      <p:sp>
        <p:nvSpPr>
          <p:cNvPr id="8" name="edu:body" descr="{&quot;edu_ppt&quot;: {&quot;id&quot;: &quot;N12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结果来自当地常规服务中的高风险母婴家庭。</a:t>
            </a:r>
          </a:p>
        </p:txBody>
      </p:sp>
      <p:sp>
        <p:nvSpPr>
          <p:cNvPr id="9" name="edu:source" descr="{&quot;edu_ppt&quot;: {&quot;id&quot;: &quot;N1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pp.3,9; Table 7</a:t>
            </a:r>
          </a:p>
        </p:txBody>
      </p:sp>
      <p:sp>
        <p:nvSpPr>
          <p:cNvPr id="10" name="edu:number" descr="{&quot;edu_ppt&quot;: {&quot;id&quot;: &quot;N1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把“学到了”与“做到了”同时测量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这项随机试验补充了常规访视中的证据：自评获益与互动变化需分开判断。</a:t>
            </a:r>
          </a:p>
        </p:txBody>
      </p:sp>
      <p:sp>
        <p:nvSpPr>
          <p:cNvPr id="5" name="edu:body" descr="{&quot;edu_ppt&quot;: {&quot;id&quot;: &quot;N13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新增认识：常规服务中的学习优势，未伴随广泛而明确的互动改善证据。</a:t>
            </a:r>
          </a:p>
        </p:txBody>
      </p:sp>
      <p:sp>
        <p:nvSpPr>
          <p:cNvPr id="6" name="edu:body" descr="{&quot;edu_ppt&quot;: {&quot;id&quot;: &quot;N13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研究借鉴：同时测量家长的理解、信心与可观察回应。</a:t>
            </a:r>
          </a:p>
        </p:txBody>
      </p:sp>
      <p:sp>
        <p:nvSpPr>
          <p:cNvPr id="7" name="edu:body" descr="{&quot;edu_ppt&quot;: {&quot;id&quot;: &quot;N13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组会讨论：我们的项目如何检验从“学到了”到“做到了”？</a:t>
            </a:r>
          </a:p>
        </p:txBody>
      </p:sp>
      <p:sp>
        <p:nvSpPr>
          <p:cNvPr id="8" name="edu:source" descr="{&quot;edu_ppt&quot;: {&quot;id&quot;: &quot;N1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pp.9–10</a:t>
            </a:r>
          </a:p>
        </p:txBody>
      </p:sp>
      <p:sp>
        <p:nvSpPr>
          <p:cNvPr id="9" name="edu:number" descr="{&quot;edu_ppt&quot;: {&quot;id&quot;: &quot;N1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N1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附录：原文招募与随访流程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N1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原图记录了筛查、随机分组与退出情况。</a:t>
            </a:r>
          </a:p>
        </p:txBody>
      </p:sp>
      <p:pic>
        <p:nvPicPr>
          <p:cNvPr id="5" name="edu:source-image" descr="{&quot;edu_ppt&quot;: {&quot;id&quot;: &quot;N14/visual/image&quot;, &quot;asset_path&quot;: &quot;figure1.jpg&quot;, &quot;asset_sha256&quot;: &quot;ef7a4a03bbc77023258e18447ec0167a184330801eef24523155c5c7390a3d1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42" y="1657350"/>
            <a:ext cx="2934514" cy="3904487"/>
          </a:xfrm>
          <a:prstGeom prst="rect">
            <a:avLst/>
          </a:prstGeom>
        </p:spPr>
      </p:pic>
      <p:sp>
        <p:nvSpPr>
          <p:cNvPr id="6" name="edu:caption" descr="{&quot;edu_ppt&quot;: {&quot;id&quot;: &quot;N1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原图：Valla等（2025），Fig.1，CC BY 4.0；未改写图内信息。</a:t>
            </a:r>
          </a:p>
        </p:txBody>
      </p:sp>
      <p:sp>
        <p:nvSpPr>
          <p:cNvPr id="7" name="edu:source" descr="{&quot;edu_ppt&quot;: {&quot;id&quot;: &quot;N1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Valla et al., 2025 · p.4 Fig.1</a:t>
            </a:r>
          </a:p>
        </p:txBody>
      </p:sp>
      <p:sp>
        <p:nvSpPr>
          <p:cNvPr id="8" name="edu:number" descr="{&quot;edu_ppt&quot;: {&quot;id&quot;: &quot;N1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看懂婴儿以后，互动是否改变？NBO随机试验解读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
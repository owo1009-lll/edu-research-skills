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本次试用</c:v>
                </c:pt>
              </c:strCache>
            </c:strRef>
          </c:tx>
          <c:spPr>
            <a:solidFill>
              <a:srgbClr val="176B76"/>
            </a:solidFill>
          </c:spPr>
          <c:cat>
            <c:strRef>
              <c:f>Sheet1!$A$2:$A$4</c:f>
              <c:strCache>
                <c:ptCount val="3"/>
                <c:pt idx="0">
                  <c:v>提交反馈</c:v>
                </c:pt>
                <c:pt idx="1">
                  <c:v>指明具体位置</c:v>
                </c:pt>
                <c:pt idx="2">
                  <c:v>可操作修改建议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</c:v>
                </c:pt>
                <c:pt idx="1">
                  <c:v>9</c:v>
                </c:pt>
                <c:pt idx="2">
                  <c:v>5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6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eparator>
</c:separator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2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r>
                  <a:t>份（同一批12份反馈）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  <c:majorUnit val="3.0"/>
      </c:valAx>
    </c:plotArea>
    <c:dispBlanksAs val="gap"/>
  </c:chart>
  <c:txPr>
    <a:bodyPr/>
    <a:lstStyle/>
    <a:p>
      <a:pPr>
        <a:defRPr sz="1700">
          <a:latin typeface="Microsoft YaHe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供团队讨论的合成阶段进展示例。我们的研究问题是，在同伴反馈前加入范例讨论，能否帮助师范生提出更具体、更可操作的修改建议。理论上，我们希望共同辨认作品质量能为判断提供参照，但这个过程机制还没有测量。已经完成的是任务和反馈编码规则初稿，以及在一个便利招募班级中由十二名志愿者参加的一次可行性试用。今天汇报的重点，是现有材料能否帮助我们把任务和提示语修得更清楚，再决定怎样做下一步比较。</a:t>
            </a:r>
          </a:p>
          <a:p/>
          <a:p>
            <a:r>
              <a:t>来源：H3合成材料 · 研究问题；理论构想；已完成工作</a:t>
            </a:r>
          </a:p>
          <a:p>
            <a:r>
              <a:t>预计讲解：55秒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十二位志愿者都提交了同伴反馈，这说明当前任务流程能够产生我们需要分析的材料。按规则初稿，九份明确指出作品中的具体位置，五份提出了可操作修改建议。图里各柱都以同一批十二份为参照，它们不是互斥分类，材料也没有交代两类质量指标的交叉情况。我们由此识别出一个需要继续支持的环节：让学生从指出问题走向提出修改办法。由于没有基线、对照班和学习成绩测验，目前还不能说范例讨论提升了能力；这张图只描述本次试用的反馈内容。</a:t>
            </a:r>
          </a:p>
          <a:p/>
          <a:p>
            <a:r>
              <a:t>来源：H3合成材料 · 试用结果：12、9、5；设计条件</a:t>
            </a:r>
          </a:p>
          <a:p>
            <a:r>
              <a:t>预计讲解：60秒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观察笔记中，两名学生说不知道如何把问题改成建议。这是本次试用的具体表达，值得拿来检查提示语怎样支持从问题到行动的转换，而不是据此估计所有师范生的困难比例。它与刚才反馈中的可操作建议数量共同支持一个阶段判断：我们保留范例讨论，但要改进学生提出建议时得到的提示。与此同时，两位研究者只是共同讨论了规则，还没有独立编码，不能报告一致性系数。下一步独立双编码会帮助我们确认“具体位置”和“可操作建议”这两个判断能否被稳定使用。</a:t>
            </a:r>
          </a:p>
          <a:p/>
          <a:p>
            <a:r>
              <a:t>来源：H3合成材料 · 观察笔记；编码规则状态</a:t>
            </a:r>
          </a:p>
          <a:p>
            <a:r>
              <a:t>预计讲解：65秒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团队当前的决定是保留范例讨论，先补强提示语，再验证效果。依据是试用能完成并收集到可分析的反馈，同时出现了把问题变成建议的具体困难。接下来先做独立双编码，检查规则并讨论分歧；修订提示语，为提出可操作建议提供更清楚的支持；随后申请在两个平行班开展前后测比较。分组方式仍需学校确认，这项比较尚未实施，所以今天不把它写成已有结果。我们要带走的行动是推进规则和提示语修订，并把分组条件确认作为正式比较的准备工作。</a:t>
            </a:r>
          </a:p>
          <a:p/>
          <a:p>
            <a:r>
              <a:t>来源：H3合成材料 · 下一步计划；团队阶段主张</a:t>
            </a:r>
          </a:p>
          <a:p>
            <a:r>
              <a:t>预计讲解：60秒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du:title" descr="{&quot;edu_ppt&quot;: {&quot;id&quot;: &quot;S01/title&quot;}}"/>
          <p:cNvSpPr txBox="1"/>
          <p:nvPr/>
        </p:nvSpPr>
        <p:spPr>
          <a:xfrm>
            <a:off x="670559" y="308609"/>
            <a:ext cx="10728959" cy="630936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2800" b="1">
                <a:solidFill>
                  <a:srgbClr val="172D3A"/>
                </a:solidFill>
                <a:latin typeface="Microsoft YaHei"/>
                <a:ea typeface="Microsoft YaHei"/>
                <a:cs typeface="Microsoft YaHei"/>
              </a:rPr>
              <a:t>合成示例｜已完成一次可行性试用</a:t>
            </a:r>
          </a:p>
        </p:txBody>
      </p:sp>
      <p:cxnSp>
        <p:nvCxnSpPr>
          <p:cNvPr id="3" name="edu:line"/>
          <p:cNvCxnSpPr/>
          <p:nvPr/>
        </p:nvCxnSpPr>
        <p:spPr>
          <a:xfrm>
            <a:off x="670559" y="1062990"/>
            <a:ext cx="10850880" cy="0"/>
          </a:xfrm>
          <a:prstGeom prst="line">
            <a:avLst/>
          </a:prstGeom>
          <a:ln w="25400">
            <a:solidFill>
              <a:srgbClr val="176B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edu:message" descr="{&quot;edu_ppt&quot;: {&quot;id&quot;: &quot;S01/message&quot;}}"/>
          <p:cNvSpPr txBox="1"/>
          <p:nvPr/>
        </p:nvSpPr>
        <p:spPr>
          <a:xfrm>
            <a:off x="670559" y="1138428"/>
            <a:ext cx="10850879" cy="418338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900" b="0">
                <a:solidFill>
                  <a:srgbClr val="176B76"/>
                </a:solidFill>
                <a:latin typeface="Microsoft YaHei"/>
                <a:ea typeface="Microsoft YaHei"/>
                <a:cs typeface="Microsoft YaHei"/>
              </a:rPr>
              <a:t>我们要帮助师范生把发现的问题转成可操作建议。</a:t>
            </a:r>
          </a:p>
        </p:txBody>
      </p:sp>
      <p:sp>
        <p:nvSpPr>
          <p:cNvPr id="5" name="edu:body" descr="{&quot;edu_ppt&quot;: {&quot;id&quot;: &quot;S01/body/0&quot;}}"/>
          <p:cNvSpPr txBox="1"/>
          <p:nvPr/>
        </p:nvSpPr>
        <p:spPr>
          <a:xfrm>
            <a:off x="670559" y="1657350"/>
            <a:ext cx="10850879" cy="502920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2200" b="0">
                <a:solidFill>
                  <a:srgbClr val="172D3A"/>
                </a:solidFill>
                <a:latin typeface="Microsoft YaHei"/>
                <a:ea typeface="Microsoft YaHei"/>
                <a:cs typeface="Microsoft YaHei"/>
              </a:rPr>
              <a:t>研究问题：反馈前的范例讨论，能否改善建议的具体性与可操作性？</a:t>
            </a:r>
          </a:p>
        </p:txBody>
      </p:sp>
      <p:sp>
        <p:nvSpPr>
          <p:cNvPr id="6" name="edu:body" descr="{&quot;edu_ppt&quot;: {&quot;id&quot;: &quot;S01/body/1&quot;}}"/>
          <p:cNvSpPr txBox="1"/>
          <p:nvPr/>
        </p:nvSpPr>
        <p:spPr>
          <a:xfrm>
            <a:off x="670559" y="2306574"/>
            <a:ext cx="10850879" cy="502920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2200" b="0">
                <a:solidFill>
                  <a:srgbClr val="172D3A"/>
                </a:solidFill>
                <a:latin typeface="Microsoft YaHei"/>
                <a:ea typeface="Microsoft YaHei"/>
                <a:cs typeface="Microsoft YaHei"/>
              </a:rPr>
              <a:t>已完成：任务与编码规则初稿；一个班12名志愿者试用。</a:t>
            </a:r>
          </a:p>
        </p:txBody>
      </p:sp>
      <p:sp>
        <p:nvSpPr>
          <p:cNvPr id="7" name="edu:body" descr="{&quot;edu_ppt&quot;: {&quot;id&quot;: &quot;S01/body/2&quot;}}"/>
          <p:cNvSpPr txBox="1"/>
          <p:nvPr/>
        </p:nvSpPr>
        <p:spPr>
          <a:xfrm>
            <a:off x="670559" y="2955798"/>
            <a:ext cx="10850879" cy="502920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2200" b="0">
                <a:solidFill>
                  <a:srgbClr val="172D3A"/>
                </a:solidFill>
                <a:latin typeface="Microsoft YaHei"/>
                <a:ea typeface="Microsoft YaHei"/>
                <a:cs typeface="Microsoft YaHei"/>
              </a:rPr>
              <a:t>理论构想：共同辨认作品质量帮助判断；机制尚未测量。</a:t>
            </a:r>
          </a:p>
        </p:txBody>
      </p:sp>
      <p:sp>
        <p:nvSpPr>
          <p:cNvPr id="8" name="edu:source" descr="{&quot;edu_ppt&quot;: {&quot;id&quot;: &quot;S01/source&quot;}}"/>
          <p:cNvSpPr txBox="1"/>
          <p:nvPr/>
        </p:nvSpPr>
        <p:spPr>
          <a:xfrm>
            <a:off x="670559" y="6281928"/>
            <a:ext cx="9875519" cy="418338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100" b="0">
                <a:solidFill>
                  <a:srgbClr val="516472"/>
                </a:solidFill>
                <a:latin typeface="Microsoft YaHei"/>
                <a:ea typeface="Microsoft YaHei"/>
                <a:cs typeface="Microsoft YaHei"/>
              </a:rPr>
              <a:t>H3合成材料 · 研究问题；理论构想；已完成工作</a:t>
            </a:r>
          </a:p>
        </p:txBody>
      </p:sp>
      <p:sp>
        <p:nvSpPr>
          <p:cNvPr id="9" name="edu:number" descr="{&quot;edu_ppt&quot;: {&quot;id&quot;: &quot;S01/number&quot;}}"/>
          <p:cNvSpPr txBox="1"/>
          <p:nvPr/>
        </p:nvSpPr>
        <p:spPr>
          <a:xfrm>
            <a:off x="10972799" y="6316218"/>
            <a:ext cx="548639" cy="308609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200" b="0">
                <a:solidFill>
                  <a:srgbClr val="516472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du:title" descr="{&quot;edu_ppt&quot;: {&quot;id&quot;: &quot;S02/title&quot;}}"/>
          <p:cNvSpPr txBox="1"/>
          <p:nvPr/>
        </p:nvSpPr>
        <p:spPr>
          <a:xfrm>
            <a:off x="670559" y="308609"/>
            <a:ext cx="10728959" cy="630936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2800" b="1">
                <a:solidFill>
                  <a:srgbClr val="172D3A"/>
                </a:solidFill>
                <a:latin typeface="Microsoft YaHei"/>
                <a:ea typeface="Microsoft YaHei"/>
                <a:cs typeface="Microsoft YaHei"/>
              </a:rPr>
              <a:t>合成示例｜反馈能交出，建议仍需支持</a:t>
            </a:r>
          </a:p>
        </p:txBody>
      </p:sp>
      <p:cxnSp>
        <p:nvCxnSpPr>
          <p:cNvPr id="3" name="edu:line"/>
          <p:cNvCxnSpPr/>
          <p:nvPr/>
        </p:nvCxnSpPr>
        <p:spPr>
          <a:xfrm>
            <a:off x="670559" y="1062990"/>
            <a:ext cx="10850880" cy="0"/>
          </a:xfrm>
          <a:prstGeom prst="line">
            <a:avLst/>
          </a:prstGeom>
          <a:ln w="25400">
            <a:solidFill>
              <a:srgbClr val="176B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edu:message" descr="{&quot;edu_ppt&quot;: {&quot;id&quot;: &quot;S02/message&quot;}}"/>
          <p:cNvSpPr txBox="1"/>
          <p:nvPr/>
        </p:nvSpPr>
        <p:spPr>
          <a:xfrm>
            <a:off x="670559" y="1138428"/>
            <a:ext cx="10850879" cy="418338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900" b="0">
                <a:solidFill>
                  <a:srgbClr val="176B76"/>
                </a:solidFill>
                <a:latin typeface="Microsoft YaHei"/>
                <a:ea typeface="Microsoft YaHei"/>
                <a:cs typeface="Microsoft YaHei"/>
              </a:rPr>
              <a:t>同一批12份反馈：9份指明位置，5份给出可操作建议。</a:t>
            </a:r>
          </a:p>
        </p:txBody>
      </p:sp>
      <p:graphicFrame>
        <p:nvGraphicFramePr>
          <p:cNvPr id="5" name="edu:chart" descr="{&quot;edu_ppt&quot;: {&quot;id&quot;: &quot;S02/visual/chart&quot;, &quot;series_colors&quot;: [&quot;176B76&quot;]}}"/>
          <p:cNvGraphicFramePr>
            <a:graphicFrameLocks noGrp="1"/>
          </p:cNvGraphicFramePr>
          <p:nvPr/>
        </p:nvGraphicFramePr>
        <p:xfrm>
          <a:off x="670559" y="1657350"/>
          <a:ext cx="10850879" cy="3904487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edu:caption" descr="{&quot;edu_ppt&quot;: {&quot;id&quot;: &quot;S02/visual/caption&quot;}}"/>
          <p:cNvSpPr txBox="1"/>
          <p:nvPr/>
        </p:nvSpPr>
        <p:spPr>
          <a:xfrm>
            <a:off x="670559" y="5580125"/>
            <a:ext cx="10850879" cy="438912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300" b="0">
                <a:solidFill>
                  <a:srgbClr val="516472"/>
                </a:solidFill>
                <a:latin typeface="Microsoft YaHei"/>
                <a:ea typeface="Microsoft YaHei"/>
                <a:cs typeface="Microsoft YaHei"/>
              </a:rPr>
              <a:t>各指标可重叠；没有前测或对照，仅描述这次试用。</a:t>
            </a:r>
          </a:p>
        </p:txBody>
      </p:sp>
      <p:sp>
        <p:nvSpPr>
          <p:cNvPr id="7" name="edu:source" descr="{&quot;edu_ppt&quot;: {&quot;id&quot;: &quot;S02/source&quot;}}"/>
          <p:cNvSpPr txBox="1"/>
          <p:nvPr/>
        </p:nvSpPr>
        <p:spPr>
          <a:xfrm>
            <a:off x="670559" y="6281928"/>
            <a:ext cx="9875519" cy="418338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100" b="0">
                <a:solidFill>
                  <a:srgbClr val="516472"/>
                </a:solidFill>
                <a:latin typeface="Microsoft YaHei"/>
                <a:ea typeface="Microsoft YaHei"/>
                <a:cs typeface="Microsoft YaHei"/>
              </a:rPr>
              <a:t>H3合成材料 · 试用结果：12、9、5；设计条件</a:t>
            </a:r>
          </a:p>
        </p:txBody>
      </p:sp>
      <p:sp>
        <p:nvSpPr>
          <p:cNvPr id="8" name="edu:number" descr="{&quot;edu_ppt&quot;: {&quot;id&quot;: &quot;S02/number&quot;}}"/>
          <p:cNvSpPr txBox="1"/>
          <p:nvPr/>
        </p:nvSpPr>
        <p:spPr>
          <a:xfrm>
            <a:off x="10972799" y="6316218"/>
            <a:ext cx="548639" cy="308609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200" b="0">
                <a:solidFill>
                  <a:srgbClr val="516472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du:title" descr="{&quot;edu_ppt&quot;: {&quot;id&quot;: &quot;S03/title&quot;}}"/>
          <p:cNvSpPr txBox="1"/>
          <p:nvPr/>
        </p:nvSpPr>
        <p:spPr>
          <a:xfrm>
            <a:off x="670559" y="308609"/>
            <a:ext cx="10728959" cy="630936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2800" b="1">
                <a:solidFill>
                  <a:srgbClr val="172D3A"/>
                </a:solidFill>
                <a:latin typeface="Microsoft YaHei"/>
                <a:ea typeface="Microsoft YaHei"/>
                <a:cs typeface="Microsoft YaHei"/>
              </a:rPr>
              <a:t>合成示例｜把“问题”转成“建议”是改进重点</a:t>
            </a:r>
          </a:p>
        </p:txBody>
      </p:sp>
      <p:cxnSp>
        <p:nvCxnSpPr>
          <p:cNvPr id="3" name="edu:line"/>
          <p:cNvCxnSpPr/>
          <p:nvPr/>
        </p:nvCxnSpPr>
        <p:spPr>
          <a:xfrm>
            <a:off x="670559" y="1062990"/>
            <a:ext cx="10850880" cy="0"/>
          </a:xfrm>
          <a:prstGeom prst="line">
            <a:avLst/>
          </a:prstGeom>
          <a:ln w="25400">
            <a:solidFill>
              <a:srgbClr val="176B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edu:message" descr="{&quot;edu_ppt&quot;: {&quot;id&quot;: &quot;S03/message&quot;}}"/>
          <p:cNvSpPr txBox="1"/>
          <p:nvPr/>
        </p:nvSpPr>
        <p:spPr>
          <a:xfrm>
            <a:off x="670559" y="1138428"/>
            <a:ext cx="10850879" cy="418338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900" b="0">
                <a:solidFill>
                  <a:srgbClr val="176B76"/>
                </a:solidFill>
                <a:latin typeface="Microsoft YaHei"/>
                <a:ea typeface="Microsoft YaHei"/>
                <a:cs typeface="Microsoft YaHei"/>
              </a:rPr>
              <a:t>两名学生提出的具体困难，为提示语修订提供了线索。</a:t>
            </a:r>
          </a:p>
        </p:txBody>
      </p:sp>
      <p:sp>
        <p:nvSpPr>
          <p:cNvPr id="5" name="edu:body" descr="{&quot;edu_ppt&quot;: {&quot;id&quot;: &quot;S03/body/0&quot;}}"/>
          <p:cNvSpPr txBox="1"/>
          <p:nvPr/>
        </p:nvSpPr>
        <p:spPr>
          <a:xfrm>
            <a:off x="670559" y="1657350"/>
            <a:ext cx="3906316" cy="773176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2200" b="0">
                <a:solidFill>
                  <a:srgbClr val="172D3A"/>
                </a:solidFill>
                <a:latin typeface="Microsoft YaHei"/>
                <a:ea typeface="Microsoft YaHei"/>
                <a:cs typeface="Microsoft YaHei"/>
              </a:rPr>
              <a:t>观察笔记：2名学生表达这一困难。</a:t>
            </a:r>
          </a:p>
        </p:txBody>
      </p:sp>
      <p:sp>
        <p:nvSpPr>
          <p:cNvPr id="6" name="edu:body" descr="{&quot;edu_ppt&quot;: {&quot;id&quot;: &quot;S03/body/1&quot;}}"/>
          <p:cNvSpPr txBox="1"/>
          <p:nvPr/>
        </p:nvSpPr>
        <p:spPr>
          <a:xfrm>
            <a:off x="670559" y="2576830"/>
            <a:ext cx="3906316" cy="773176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2200" b="0">
                <a:solidFill>
                  <a:srgbClr val="172D3A"/>
                </a:solidFill>
                <a:latin typeface="Microsoft YaHei"/>
                <a:ea typeface="Microsoft YaHei"/>
                <a:cs typeface="Microsoft YaHei"/>
              </a:rPr>
              <a:t>编码规则已共同讨论；独立双编码尚未完成。</a:t>
            </a:r>
          </a:p>
        </p:txBody>
      </p:sp>
      <p:sp>
        <p:nvSpPr>
          <p:cNvPr id="7" name="edu:quote" descr="{&quot;edu_ppt&quot;: {&quot;id&quot;: &quot;S03/visual/quote&quot;}}"/>
          <p:cNvSpPr txBox="1"/>
          <p:nvPr/>
        </p:nvSpPr>
        <p:spPr>
          <a:xfrm>
            <a:off x="5120639" y="1840230"/>
            <a:ext cx="6291071" cy="2990087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2500" b="0">
                <a:solidFill>
                  <a:srgbClr val="172D3A"/>
                </a:solidFill>
                <a:latin typeface="Microsoft YaHei"/>
                <a:ea typeface="Microsoft YaHei"/>
                <a:cs typeface="Microsoft YaHei"/>
              </a:rPr>
              <a:t>“不知道如何把问题改成建议”</a:t>
            </a:r>
          </a:p>
        </p:txBody>
      </p:sp>
      <p:sp>
        <p:nvSpPr>
          <p:cNvPr id="8" name="edu:attribution" descr="{&quot;edu_ppt&quot;: {&quot;id&quot;: &quot;S03/visual/attribution&quot;}}"/>
          <p:cNvSpPr txBox="1"/>
          <p:nvPr/>
        </p:nvSpPr>
        <p:spPr>
          <a:xfrm>
            <a:off x="5120639" y="4967477"/>
            <a:ext cx="6291071" cy="457200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700" b="0">
                <a:solidFill>
                  <a:srgbClr val="516472"/>
                </a:solidFill>
                <a:latin typeface="Microsoft YaHei"/>
                <a:ea typeface="Microsoft YaHei"/>
                <a:cs typeface="Microsoft YaHei"/>
              </a:rPr>
              <a:t>观察笔记：2名学生（合成设定）</a:t>
            </a:r>
          </a:p>
        </p:txBody>
      </p:sp>
      <p:sp>
        <p:nvSpPr>
          <p:cNvPr id="9" name="edu:caption" descr="{&quot;edu_ppt&quot;: {&quot;id&quot;: &quot;S03/visual/caption&quot;}}"/>
          <p:cNvSpPr txBox="1"/>
          <p:nvPr/>
        </p:nvSpPr>
        <p:spPr>
          <a:xfrm>
            <a:off x="5010911" y="5580125"/>
            <a:ext cx="6510527" cy="438912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300" b="0">
                <a:solidFill>
                  <a:srgbClr val="516472"/>
                </a:solidFill>
                <a:latin typeface="Microsoft YaHei"/>
                <a:ea typeface="Microsoft YaHei"/>
                <a:cs typeface="Microsoft YaHei"/>
              </a:rPr>
              <a:t>一条试用线索；尚无独立双编码结果。</a:t>
            </a:r>
          </a:p>
        </p:txBody>
      </p:sp>
      <p:sp>
        <p:nvSpPr>
          <p:cNvPr id="10" name="edu:source" descr="{&quot;edu_ppt&quot;: {&quot;id&quot;: &quot;S03/source&quot;}}"/>
          <p:cNvSpPr txBox="1"/>
          <p:nvPr/>
        </p:nvSpPr>
        <p:spPr>
          <a:xfrm>
            <a:off x="670559" y="6281928"/>
            <a:ext cx="9875519" cy="418338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100" b="0">
                <a:solidFill>
                  <a:srgbClr val="516472"/>
                </a:solidFill>
                <a:latin typeface="Microsoft YaHei"/>
                <a:ea typeface="Microsoft YaHei"/>
                <a:cs typeface="Microsoft YaHei"/>
              </a:rPr>
              <a:t>H3合成材料 · 观察笔记；编码规则状态</a:t>
            </a:r>
          </a:p>
        </p:txBody>
      </p:sp>
      <p:sp>
        <p:nvSpPr>
          <p:cNvPr id="11" name="edu:number" descr="{&quot;edu_ppt&quot;: {&quot;id&quot;: &quot;S03/number&quot;}}"/>
          <p:cNvSpPr txBox="1"/>
          <p:nvPr/>
        </p:nvSpPr>
        <p:spPr>
          <a:xfrm>
            <a:off x="10972799" y="6316218"/>
            <a:ext cx="548639" cy="308609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200" b="0">
                <a:solidFill>
                  <a:srgbClr val="516472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du:title" descr="{&quot;edu_ppt&quot;: {&quot;id&quot;: &quot;S04/title&quot;}}"/>
          <p:cNvSpPr txBox="1"/>
          <p:nvPr/>
        </p:nvSpPr>
        <p:spPr>
          <a:xfrm>
            <a:off x="670559" y="308609"/>
            <a:ext cx="10728959" cy="630936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2800" b="1">
                <a:solidFill>
                  <a:srgbClr val="172D3A"/>
                </a:solidFill>
                <a:latin typeface="Microsoft YaHei"/>
                <a:ea typeface="Microsoft YaHei"/>
                <a:cs typeface="Microsoft YaHei"/>
              </a:rPr>
              <a:t>合成示例｜保留范例讨论，改提示语后再验证</a:t>
            </a:r>
          </a:p>
        </p:txBody>
      </p:sp>
      <p:cxnSp>
        <p:nvCxnSpPr>
          <p:cNvPr id="3" name="edu:line"/>
          <p:cNvCxnSpPr/>
          <p:nvPr/>
        </p:nvCxnSpPr>
        <p:spPr>
          <a:xfrm>
            <a:off x="670559" y="1062990"/>
            <a:ext cx="10850880" cy="0"/>
          </a:xfrm>
          <a:prstGeom prst="line">
            <a:avLst/>
          </a:prstGeom>
          <a:ln w="25400">
            <a:solidFill>
              <a:srgbClr val="176B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edu:message" descr="{&quot;edu_ppt&quot;: {&quot;id&quot;: &quot;S04/message&quot;}}"/>
          <p:cNvSpPr txBox="1"/>
          <p:nvPr/>
        </p:nvSpPr>
        <p:spPr>
          <a:xfrm>
            <a:off x="670559" y="1138428"/>
            <a:ext cx="10850879" cy="418338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900" b="0">
                <a:solidFill>
                  <a:srgbClr val="176B76"/>
                </a:solidFill>
                <a:latin typeface="Microsoft YaHei"/>
                <a:ea typeface="Microsoft YaHei"/>
                <a:cs typeface="Microsoft YaHei"/>
              </a:rPr>
              <a:t>团队决定基于可行性与反馈内容；效果比较尚未实施。</a:t>
            </a:r>
          </a:p>
        </p:txBody>
      </p:sp>
      <p:graphicFrame>
        <p:nvGraphicFramePr>
          <p:cNvPr id="5" name="edu:table" descr="{&quot;edu_ppt&quot;: {&quot;id&quot;: &quot;S04/visual/table&quot;}}"/>
          <p:cNvGraphicFramePr>
            <a:graphicFrameLocks noGrp="1"/>
          </p:cNvGraphicFramePr>
          <p:nvPr/>
        </p:nvGraphicFramePr>
        <p:xfrm>
          <a:off x="670559" y="1657350"/>
          <a:ext cx="10850877" cy="39044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6593"/>
                <a:gridCol w="3712142"/>
                <a:gridCol w="3712142"/>
              </a:tblGrid>
              <a:tr h="976121">
                <a:tc>
                  <a:txBody>
                    <a:bodyPr wrap="square" lIns="32004" rIns="32004" tIns="22860" bIns="22860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2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计划行动</a:t>
                      </a:r>
                    </a:p>
                  </a:txBody>
                  <a:tcPr marL="64008" marR="64008" marT="36576" marB="36576" anchor="ctr">
                    <a:solidFill>
                      <a:srgbClr val="176B76"/>
                    </a:solidFill>
                  </a:tcPr>
                </a:tc>
                <a:tc>
                  <a:txBody>
                    <a:bodyPr wrap="square" lIns="32004" rIns="32004" tIns="22860" bIns="22860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2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用途</a:t>
                      </a:r>
                    </a:p>
                  </a:txBody>
                  <a:tcPr marL="64008" marR="64008" marT="36576" marB="36576" anchor="ctr">
                    <a:solidFill>
                      <a:srgbClr val="176B76"/>
                    </a:solidFill>
                  </a:tcPr>
                </a:tc>
                <a:tc>
                  <a:txBody>
                    <a:bodyPr wrap="square" lIns="32004" rIns="32004" tIns="22860" bIns="22860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2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当前条件</a:t>
                      </a:r>
                    </a:p>
                  </a:txBody>
                  <a:tcPr marL="64008" marR="64008" marT="36576" marB="36576" anchor="ctr">
                    <a:solidFill>
                      <a:srgbClr val="176B76"/>
                    </a:solidFill>
                  </a:tcPr>
                </a:tc>
              </a:tr>
              <a:tr h="976121">
                <a:tc>
                  <a:txBody>
                    <a:bodyPr wrap="square" lIns="32004" rIns="32004" tIns="22860" bIns="22860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2200" b="0">
                          <a:solidFill>
                            <a:srgbClr val="172D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独立双编码</a:t>
                      </a:r>
                    </a:p>
                  </a:txBody>
                  <a:tcPr marL="64008" marR="64008" marT="36576" marB="36576" anchor="ctr">
                    <a:solidFill>
                      <a:srgbClr val="EAF3F4"/>
                    </a:solidFill>
                  </a:tcPr>
                </a:tc>
                <a:tc>
                  <a:txBody>
                    <a:bodyPr wrap="square" lIns="32004" rIns="32004" tIns="22860" bIns="22860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2200" b="0">
                          <a:solidFill>
                            <a:srgbClr val="172D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核对规则与分歧</a:t>
                      </a:r>
                    </a:p>
                  </a:txBody>
                  <a:tcPr marL="64008" marR="64008" marT="36576" marB="36576" anchor="ctr">
                    <a:solidFill>
                      <a:srgbClr val="EAF3F4"/>
                    </a:solidFill>
                  </a:tcPr>
                </a:tc>
                <a:tc>
                  <a:txBody>
                    <a:bodyPr wrap="square" lIns="32004" rIns="32004" tIns="22860" bIns="22860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2200" b="0">
                          <a:solidFill>
                            <a:srgbClr val="172D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尚未完成</a:t>
                      </a:r>
                    </a:p>
                  </a:txBody>
                  <a:tcPr marL="64008" marR="64008" marT="36576" marB="36576" anchor="ctr">
                    <a:solidFill>
                      <a:srgbClr val="EAF3F4"/>
                    </a:solidFill>
                  </a:tcPr>
                </a:tc>
              </a:tr>
              <a:tr h="976121">
                <a:tc>
                  <a:txBody>
                    <a:bodyPr wrap="square" lIns="32004" rIns="32004" tIns="22860" bIns="22860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2200" b="0">
                          <a:solidFill>
                            <a:srgbClr val="172D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修订提示语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32004" rIns="32004" tIns="22860" bIns="22860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2200" b="0">
                          <a:solidFill>
                            <a:srgbClr val="172D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支持形成修改建议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32004" rIns="32004" tIns="22860" bIns="22860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2200" b="0">
                          <a:solidFill>
                            <a:srgbClr val="172D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依据试用材料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</a:tr>
              <a:tr h="976124">
                <a:tc>
                  <a:txBody>
                    <a:bodyPr wrap="square" lIns="32004" rIns="32004" tIns="22860" bIns="22860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2200" b="0">
                          <a:solidFill>
                            <a:srgbClr val="172D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申请两平行班前后测</a:t>
                      </a:r>
                    </a:p>
                  </a:txBody>
                  <a:tcPr marL="64008" marR="64008" marT="36576" marB="36576" anchor="ctr">
                    <a:solidFill>
                      <a:srgbClr val="EAF3F4"/>
                    </a:solidFill>
                  </a:tcPr>
                </a:tc>
                <a:tc>
                  <a:txBody>
                    <a:bodyPr wrap="square" lIns="32004" rIns="32004" tIns="22860" bIns="22860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2200" b="0">
                          <a:solidFill>
                            <a:srgbClr val="172D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验证效果</a:t>
                      </a:r>
                    </a:p>
                  </a:txBody>
                  <a:tcPr marL="64008" marR="64008" marT="36576" marB="36576" anchor="ctr">
                    <a:solidFill>
                      <a:srgbClr val="EAF3F4"/>
                    </a:solidFill>
                  </a:tcPr>
                </a:tc>
                <a:tc>
                  <a:txBody>
                    <a:bodyPr wrap="square" lIns="32004" rIns="32004" tIns="22860" bIns="22860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2200" b="0">
                          <a:solidFill>
                            <a:srgbClr val="172D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分组待学校确认</a:t>
                      </a:r>
                    </a:p>
                  </a:txBody>
                  <a:tcPr marL="64008" marR="64008" marT="36576" marB="36576" anchor="ctr">
                    <a:solidFill>
                      <a:srgbClr val="EAF3F4"/>
                    </a:solidFill>
                  </a:tcPr>
                </a:tc>
              </a:tr>
            </a:tbl>
          </a:graphicData>
        </a:graphic>
      </p:graphicFrame>
      <p:sp>
        <p:nvSpPr>
          <p:cNvPr id="6" name="edu:caption" descr="{&quot;edu_ppt&quot;: {&quot;id&quot;: &quot;S04/visual/caption&quot;}}"/>
          <p:cNvSpPr txBox="1"/>
          <p:nvPr/>
        </p:nvSpPr>
        <p:spPr>
          <a:xfrm>
            <a:off x="670559" y="5580125"/>
            <a:ext cx="10850879" cy="438912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300" b="0">
                <a:solidFill>
                  <a:srgbClr val="516472"/>
                </a:solidFill>
                <a:latin typeface="Microsoft YaHei"/>
                <a:ea typeface="Microsoft YaHei"/>
                <a:cs typeface="Microsoft YaHei"/>
              </a:rPr>
              <a:t>下一步计划尚未实施；共同辨认质量的机制也尚未测量。</a:t>
            </a:r>
          </a:p>
        </p:txBody>
      </p:sp>
      <p:sp>
        <p:nvSpPr>
          <p:cNvPr id="7" name="edu:source" descr="{&quot;edu_ppt&quot;: {&quot;id&quot;: &quot;S04/source&quot;}}"/>
          <p:cNvSpPr txBox="1"/>
          <p:nvPr/>
        </p:nvSpPr>
        <p:spPr>
          <a:xfrm>
            <a:off x="670559" y="6281928"/>
            <a:ext cx="9875519" cy="418338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100" b="0">
                <a:solidFill>
                  <a:srgbClr val="516472"/>
                </a:solidFill>
                <a:latin typeface="Microsoft YaHei"/>
                <a:ea typeface="Microsoft YaHei"/>
                <a:cs typeface="Microsoft YaHei"/>
              </a:rPr>
              <a:t>H3合成材料 · 下一步计划；团队阶段主张</a:t>
            </a:r>
          </a:p>
        </p:txBody>
      </p:sp>
      <p:sp>
        <p:nvSpPr>
          <p:cNvPr id="8" name="edu:number" descr="{&quot;edu_ppt&quot;: {&quot;id&quot;: &quot;S04/number&quot;}}"/>
          <p:cNvSpPr txBox="1"/>
          <p:nvPr/>
        </p:nvSpPr>
        <p:spPr>
          <a:xfrm>
            <a:off x="10972799" y="6316218"/>
            <a:ext cx="548639" cy="308609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200" b="0">
                <a:solidFill>
                  <a:srgbClr val="516472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合成示例｜范例讨论与同伴反馈：阶段进展</dc:title>
  <dc:subject>Education research presentation; source-linked plan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
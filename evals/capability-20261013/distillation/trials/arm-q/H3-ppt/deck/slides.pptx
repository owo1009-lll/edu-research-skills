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试用反馈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Sheet1!$A$2:$A$4</c:f>
              <c:strCache>
                <c:ptCount val="3"/>
                <c:pt idx="0">
                  <c:v>提交反馈</c:v>
                </c:pt>
                <c:pt idx="1">
                  <c:v>指出具体位置</c:v>
                </c:pt>
                <c:pt idx="2">
                  <c:v>可操作修改建议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9</c:v>
                </c:pt>
                <c:pt idx="2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为团队讨论准备的合成阶段示例。我们的核心问题是，在同伴反馈前先讨论范例，能否帮助师范生给出更具体、可操作的建议。理论上，共同辨认作品质量可能帮助判断，但这个机制还没有测量。目前已完成任务设计和反馈编码规则初稿，并在一个便利招募的班级里让十二名志愿者做了一次可行性试用。这个阶段首先要知道任务能否完成、反馈内容呈现哪些特点，然后才决定怎样进入效果验证。两位研究者已经共同讨论规则，但尚未各自独立编码，因此今天也不报告一致性系数。</a:t>
            </a:r>
          </a:p>
          <a:p/>
          <a:p>
            <a:r>
              <a:t>来源：合成示例材料 · H3：问题、理论构想与已完成工作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这一次试用留下的反馈。十二个人都提交了，说明在这次安排下，任务能够实际完成。内容上，九份明确指出了作品中的具体位置，五份提出了可以操作的修改建议。三个条形对应不同维度，可能重叠，不能相加，也不能由这些总数推断是哪五份反馈同时满足了另一个维度。这些计数仍基于编码初稿，下一步需要独立双编码来检验判断是否稳定。当前没有基线、对照班或学习成绩测验，所以我们不能说范例讨论带来了提升。不过，建议这一维度提供了明确的改进焦点，下一页结合观察说明这个焦点。</a:t>
            </a:r>
          </a:p>
          <a:p/>
          <a:p>
            <a:r>
              <a:t>来源：合成示例材料 · H3：提交与反馈计数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笔记中有两名学生说，不知道如何把问题改成建议。它不是一个可以推广的比例，而是这次试用中直接出现的困难。联系上一页，提交任务已经可行，但可操作建议只有五份，我们因此主张继续保留范例讨论，同时改进帮助学生从判断问题走向提出建议的提示语。这个决定依据的是可行性和反馈内容，不是范例讨论已经改善学习的证据。我们也不把困难简单归咎于学生能力；提示语是否帮助了这个转化，需要在后续任务里看实际反馈内容是否变化。</a:t>
            </a:r>
          </a:p>
          <a:p/>
          <a:p>
            <a:r>
              <a:t>来源：合成示例材料 · H3：观察笔记与团队主张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的顺序是先让测量与提示语更可靠，再申请扩大比较。两位研究者要独立编码，核对分歧并修订规则；目前只有共同讨论，不能把这一步当成已经完成。随后根据试用困难修订提示语。我们计划申请在两个平行班进行前后测比较，但学校还没有确认分组方式，因此今天不把它称为随机实验，也不把计划列为研究结果。团队当前的决定可以概括为：保留可行的范例讨论，补上提出建议的支持，再用比较设计验证是否改善反馈。正式比较能支持多强的效果判断，要由最终分组及测量安排决定。</a:t>
            </a:r>
          </a:p>
          <a:p/>
          <a:p>
            <a:r>
              <a:t>来源：合成示例材料 · H3：下一步计划与分组待定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合成示例｜我们已完成一次可行性试用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研究问题：范例讨论能否帮助师范生提出更具体、可操作的反馈？</a:t>
            </a:r>
          </a:p>
        </p:txBody>
      </p:sp>
      <p:graphicFrame>
        <p:nvGraphicFramePr>
          <p:cNvPr id="5" name="edu:table" descr="{&quot;edu_ppt&quot;: {&quot;id&quot;: &quot;S01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959"/>
                <a:gridCol w="7233919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任务与编码规则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初稿完成；研究者已共同讨论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课堂试用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一个便利招募班级，12名志愿者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机制构想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共同辨认质量帮助判断；尚未测量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1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已完成的是可行性试用，不是教学效果验证。</a:t>
            </a:r>
          </a:p>
        </p:txBody>
      </p:sp>
      <p:sp>
        <p:nvSpPr>
          <p:cNvPr id="7" name="edu:source" descr="{&quot;edu_ppt&quot;: {&quot;id&quot;: &quot;S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合成示例材料 · H3：问题、理论构想与已完成工作</a:t>
            </a:r>
          </a:p>
        </p:txBody>
      </p:sp>
      <p:sp>
        <p:nvSpPr>
          <p:cNvPr id="8" name="edu:number" descr="{&quot;edu_ppt&quot;: {&quot;id&quot;: &quot;S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合成示例｜反馈交得出，建议还需支持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初步编码：12人均提交；9份定位具体问题；5份给出可操作建议。</a:t>
            </a:r>
          </a:p>
        </p:txBody>
      </p:sp>
      <p:graphicFrame>
        <p:nvGraphicFramePr>
          <p:cNvPr id="5" name="edu:chart" descr="{&quot;edu_ppt&quot;: {&quot;id&quot;: &quot;S02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S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分母为12；各项可重叠；未独立双编码；一次试用描述。</a:t>
            </a:r>
          </a:p>
        </p:txBody>
      </p:sp>
      <p:sp>
        <p:nvSpPr>
          <p:cNvPr id="7" name="edu:source" descr="{&quot;edu_ppt&quot;: {&quot;id&quot;: &quot;S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合成示例材料 · H3：提交与反馈计数</a:t>
            </a:r>
          </a:p>
        </p:txBody>
      </p:sp>
      <p:sp>
        <p:nvSpPr>
          <p:cNvPr id="8" name="edu:number" descr="{&quot;edu_ppt&quot;: {&quot;id&quot;: &quot;S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合成示例｜把“发现问题”接到“提出建议”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团队决定：保留范例讨论，改进支持学生提出修改建议的提示语。</a:t>
            </a:r>
          </a:p>
        </p:txBody>
      </p:sp>
      <p:sp>
        <p:nvSpPr>
          <p:cNvPr id="5" name="edu:quote" descr="{&quot;edu_ppt&quot;: {&quot;id&quot;: &quot;S03/visual/quote&quot;}}"/>
          <p:cNvSpPr txBox="1"/>
          <p:nvPr/>
        </p:nvSpPr>
        <p:spPr>
          <a:xfrm>
            <a:off x="780287" y="1840230"/>
            <a:ext cx="10631423" cy="2990087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5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“不知道如何把问题改成建议”</a:t>
            </a:r>
          </a:p>
        </p:txBody>
      </p:sp>
      <p:sp>
        <p:nvSpPr>
          <p:cNvPr id="6" name="edu:attribution" descr="{&quot;edu_ppt&quot;: {&quot;id&quot;: &quot;S03/visual/attribution&quot;}}"/>
          <p:cNvSpPr txBox="1"/>
          <p:nvPr/>
        </p:nvSpPr>
        <p:spPr>
          <a:xfrm>
            <a:off x="780287" y="4967477"/>
            <a:ext cx="10631423" cy="45720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一次试用观察笔记：2名学生提出（合成设定）</a:t>
            </a:r>
          </a:p>
        </p:txBody>
      </p:sp>
      <p:sp>
        <p:nvSpPr>
          <p:cNvPr id="7" name="edu:caption" descr="{&quot;edu_ppt&quot;: {&quot;id&quot;: &quot;S03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具体困难用于改进任务；不作总体比例推断。</a:t>
            </a:r>
          </a:p>
        </p:txBody>
      </p:sp>
      <p:sp>
        <p:nvSpPr>
          <p:cNvPr id="8" name="edu:source" descr="{&quot;edu_ppt&quot;: {&quot;id&quot;: &quot;S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合成示例材料 · H3：观察笔记与团队主张</a:t>
            </a:r>
          </a:p>
        </p:txBody>
      </p:sp>
      <p:sp>
        <p:nvSpPr>
          <p:cNvPr id="9" name="edu:number" descr="{&quot;edu_ppt&quot;: {&quot;id&quot;: &quot;S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合成示例｜先稳住编码，再进入效果比较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拟申请两个平行班前后测比较；分组方式尚待学校确认，尚未实施。</a:t>
            </a:r>
          </a:p>
        </p:txBody>
      </p:sp>
      <p:graphicFrame>
        <p:nvGraphicFramePr>
          <p:cNvPr id="5" name="edu:table" descr="{&quot;edu_ppt&quot;: {&quot;id&quot;: &quot;S04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871"/>
                <a:gridCol w="8319007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拟完成的工作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独立双编码；据分歧修订规则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改进从问题到修改建议的提示语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申请两平行班前后测；分组待校方确认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尚无基线、对照班或学习成绩测验；效果尚待验证。</a:t>
            </a:r>
          </a:p>
        </p:txBody>
      </p:sp>
      <p:sp>
        <p:nvSpPr>
          <p:cNvPr id="7" name="edu:source" descr="{&quot;edu_ppt&quot;: {&quot;id&quot;: &quot;S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合成示例材料 · H3：下一步计划与分组待定</a:t>
            </a:r>
          </a:p>
        </p:txBody>
      </p:sp>
      <p:sp>
        <p:nvSpPr>
          <p:cNvPr id="8" name="edu:number" descr="{&quot;edu_ppt&quot;: {&quot;id&quot;: &quot;S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范例讨论与同伴反馈：阶段进展（合成示例）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
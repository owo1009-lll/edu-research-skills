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解读Bastani等人的高中数学现场实验。一个教学上很容易混淆的现象是：学生在工具帮助下把题做出来了，我们就认为他们学会了。本文把这件事拆成两个实际可观察的表现：练习时可以使用资源的成绩，以及同一次课稍后完全独立完成相近题目的成绩。后者才是作者预注册的主要结局。接下来沿着为什么要这样问、怎样比较、得到什么答案来讲；这里的学习指短期独立表现，并不是长期保持。</a:t>
            </a:r>
          </a:p>
          <a:p/>
          <a:p>
            <a:r>
              <a:t>来源：Bastani等，2025 · 引言；Experimental Design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回顾的既有生成式AI研究，主要讨论人在使用工具时是否完成得更快、更好。这些研究中的生产率收益，与教育里希望留下的能力不是同一个结局。Bastani等的担心是，如果解题活动被直接代做，练习成绩会变好，但学生可能减少了自己推理的机会。本文因此增加一次撤去所有资源的测验，观察工具帮助结束后还剩下什么。这不是否认作者回顾的生产率发现，而是提出它们尚未回答的学习问题。这里关于既有研究的概括来自本文回顾。</a:t>
            </a:r>
          </a:p>
          <a:p/>
          <a:p>
            <a:r>
              <a:t>来源：Bastani等，2025 · 引言第1–4段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在2023年秋季、土耳其一所高中的九至十一年级开展，覆盖近千名学生。每次九十分钟，共四次，内容是已经学过的数学知识。所有组先接受教师复习，然后做练习；练习提交之后，教师统一讲解答案，最后闭卷、关闭电脑参加测验。每个测验题对应概念相近的练习题，所以这是紧接练习的近距离检验。分配以班级为单位，普通班学生此前随机入班，研究再结合可观察特征与排课限制分配班级；主分析排除荣誉班。评分由独立评分者按教师规则进行。设计把练习工具变化与共同的课堂环节区分开来。</a:t>
            </a:r>
          </a:p>
          <a:p/>
          <a:p>
            <a:r>
              <a:t>来源：Bastani等，2025 · Experimental Design；脚注#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三个组都能使用教材与笔记。对照组按日常方式练习，不提供设备。GPT Base使用研究团队搭建的GPT-4聊天接口，接近常规ChatGPT式帮助；它可以直接给出解答。GPT Tutor同样基于GPT-4，但被要求用提示引导，避免直接交出完整答案，同时获得教师提供的正确解答、常见错误与相应反馈。这一点对解释结果很关键：Tutor不仅限制给答案，也改善了问题信息。两者组成一个支持方案，不能把结果全归因于某一句提示。教师准备这些材料也需要劳动成本。</a:t>
            </a:r>
          </a:p>
          <a:p/>
          <a:p>
            <a:r>
              <a:t>来源：Bastani等，2025 · Experimental Design；图1；脚注†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核心证据。所有估计均相对普通资源对照组，分数归一化到零至一，括号中是按班级聚类的标准误。先看练习，Base提高零点一三七，Tutor提高零点三六一；作者换算成相对对照均值的增幅，分别约百分之四十八和百分之一百二十七。再看预注册主要结局，也就是独立测验：Base下降零点零五四，相对对照均值约下降百分之十七。Tutor的估计是负零点零零四，没有检出明确差异，更没有显示独立成绩提高。这个模式与护栏减轻损害的解释一致，但未显著不是等效证明，也不能只比星号就断言两种处理有显著差异。原表的两千八百四十八是学生与课次的观测数，不是参与者人数；分析按最初分配保留学生。</a:t>
            </a:r>
          </a:p>
          <a:p/>
          <a:p>
            <a:r>
              <a:t>来源：Bastani等，2025 · Main Results；表1</a:t>
            </a:r>
          </a:p>
          <a:p>
            <a:r>
              <a:t>预计讲解：85秒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进一步问，Base组独立成绩下降，是被错误答案误导，还是因为直接拿走解答而减少了自己的思考？互动记录显示，Base组常直接要答案，而Tutor组更多请求帮助或尝试解题。这支持作者的拐杖解释。错误分析则发现，Base的错误率与练习表现有关，但逻辑错误率的交互项在独立测验中没有显著结果。这个未显著结果不足以排除错误传递，因此不能把拐杖说成唯一机制。再联系上一页的设计，Tutor还同时提供了更准确的教师信息。我们得到的是支持某个解释的证据组合，而不是拆解每一条因果路径的实验。</a:t>
            </a:r>
          </a:p>
          <a:p/>
          <a:p>
            <a:r>
              <a:t>来源：Bastani等，2025 · Potential Mechanism；表2；图3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个与教学评价有关的结果是学生怎么看自己。Base组的独立测验表现下降，但他们没有感觉自己学得更少或表现更差。Tutor组没有显示独立测验收益，却感觉自己表现得更好。作者用课后问卷收集学习感受，再与实际测验作对照。这说明，即使学生喜欢帮助、觉得学得不错，也还需要看他们独立完成任务时的表现。它把前面的实验结果直接连到学校常用的课程评价方式。</a:t>
            </a:r>
          </a:p>
          <a:p/>
          <a:p>
            <a:r>
              <a:t>来源：Bastani等，2025 · Main Results：Student Perception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这项研究能作出的部署判断很明确：学校评估AI时，应同时保留辅助任务与无辅助任务，不能只看练习完成率或学生感受。工具设计应让学生继续尝试推理，教师的题目知识是这次方案的一部分，也带来准备成本。范围同样具体：这是一所学校、数学复习、四次课和2023年的模型，没有回答长期保持与跨学科迁移。作者提出更主动地诊断误解、追问并生成提示，但这些是下一步设计方向。护栏值得继续发展，是否真正提升独立能力仍需直接测量。</a:t>
            </a:r>
          </a:p>
          <a:p/>
          <a:p>
            <a:r>
              <a:t>来源：Bastani等，2025 · Discussion；Experimental Design</a:t>
            </a:r>
          </a:p>
          <a:p>
            <a:r>
              <a:t>预计讲解：50秒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收尾：这项高中数学现场实验把辅助练习和随后独立测验分开，发现常规GPT式帮助存在短期学习损害风险，因而把工具设计与独立能力评估放到了教育部署的核心。原文后续更正仅修正作者单位，没有修改结果。</a:t>
            </a:r>
          </a:p>
          <a:p/>
          <a:p>
            <a:r>
              <a:t>来源：Bastani等，2025 · Main Results；Discussion; PNAS更正，2025 · 更正正文</a:t>
            </a:r>
          </a:p>
          <a:p>
            <a:r>
              <a:t>预计讲解：25秒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工具帮助完成之后，学生学会了吗？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Bastani等（2025）：把辅助表现与短期独立表现分开检验。</a:t>
            </a:r>
          </a:p>
        </p:txBody>
      </p:sp>
      <p:graphicFrame>
        <p:nvGraphicFramePr>
          <p:cNvPr id="5" name="edu:table" descr="{&quot;edu_ppt&quot;: {&quot;id&quot;: &quot;S01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7233919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本文怎样观察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辅助练习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按分组使用相应资源完成练习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短期独立表现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撤去资源后，完成概念相近的测验题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1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原研究：高中数学复习；本汇报为文章解读。</a:t>
            </a:r>
          </a:p>
        </p:txBody>
      </p:sp>
      <p:sp>
        <p:nvSpPr>
          <p:cNvPr id="7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引言；Experimental Design</a:t>
            </a:r>
          </a:p>
        </p:txBody>
      </p:sp>
      <p:sp>
        <p:nvSpPr>
          <p:cNvPr id="8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为什么“当下做得好”还不够？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作者把研究焦点从有工具时的产出，推进到撤去工具后的能力。</a:t>
            </a:r>
          </a:p>
        </p:txBody>
      </p:sp>
      <p:graphicFrame>
        <p:nvGraphicFramePr>
          <p:cNvPr id="5" name="edu:table" descr="{&quot;edu_ppt&quot;: {&quot;id&quot;: &quot;S02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0351"/>
                <a:gridCol w="6510527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证据关注点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能支持的判断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作者回顾：有AI的任务表现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工具是否帮助完成当前任务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本文增加：随后无AI测验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短期独立解题是否改善或受损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既有生产率研究由Bastani等在引言中回顾。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引言第1–4段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同一节课：先提供帮助，再撤去资源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土耳其一所高中；四次90分钟课程；干预只发生在练习阶段。</a:t>
            </a:r>
          </a:p>
        </p:txBody>
      </p:sp>
      <p:sp>
        <p:nvSpPr>
          <p:cNvPr id="5" name="edu:process" descr="{&quot;edu_ppt&quot;: {&quot;id&quot;: &quot;S03/visual/node/0&quot;}}"/>
          <p:cNvSpPr/>
          <p:nvPr/>
        </p:nvSpPr>
        <p:spPr>
          <a:xfrm>
            <a:off x="670559" y="1657350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教师复习</a:t>
            </a:r>
          </a:p>
        </p:txBody>
      </p:sp>
      <p:sp>
        <p:nvSpPr>
          <p:cNvPr id="6" name="edu:process" descr="{&quot;edu_ppt&quot;: {&quot;id&quot;: &quot;S03/visual/node/1&quot;}}"/>
          <p:cNvSpPr/>
          <p:nvPr/>
        </p:nvSpPr>
        <p:spPr>
          <a:xfrm>
            <a:off x="670559" y="2706624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分组练习</a:t>
            </a:r>
          </a:p>
        </p:txBody>
      </p:sp>
      <p:sp>
        <p:nvSpPr>
          <p:cNvPr id="7" name="edu:process" descr="{&quot;edu_ppt&quot;: {&quot;id&quot;: &quot;S03/visual/node/2&quot;}}"/>
          <p:cNvSpPr/>
          <p:nvPr/>
        </p:nvSpPr>
        <p:spPr>
          <a:xfrm>
            <a:off x="670559" y="3755898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统一讲解</a:t>
            </a:r>
          </a:p>
        </p:txBody>
      </p:sp>
      <p:sp>
        <p:nvSpPr>
          <p:cNvPr id="8" name="edu:process" descr="{&quot;edu_ppt&quot;: {&quot;id&quot;: &quot;S03/visual/node/3&quot;}}"/>
          <p:cNvSpPr/>
          <p:nvPr/>
        </p:nvSpPr>
        <p:spPr>
          <a:xfrm>
            <a:off x="670559" y="4805172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独立测验</a:t>
            </a:r>
          </a:p>
        </p:txBody>
      </p:sp>
      <p:cxnSp>
        <p:nvCxnSpPr>
          <p:cNvPr id="9" name="edu:arrow" descr="{&quot;edu_ppt&quot;: {&quot;id&quot;: &quot;S03/visual/edge/0&quot;, &quot;start&quot;: &quot;visual/node/0&quot;, &quot;end&quot;: &quot;visual/node/1&quot;}}"/>
          <p:cNvCxnSpPr>
            <a:stCxn id="5" idx="2"/>
            <a:endCxn id="6" idx="0"/>
          </p:cNvCxnSpPr>
          <p:nvPr/>
        </p:nvCxnSpPr>
        <p:spPr>
          <a:xfrm>
            <a:off x="6095998" y="2414015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du:arrow" descr="{&quot;edu_ppt&quot;: {&quot;id&quot;: &quot;S03/visual/edge/1&quot;, &quot;start&quot;: &quot;visual/node/1&quot;, &quot;end&quot;: &quot;visual/node/2&quot;}}"/>
          <p:cNvCxnSpPr>
            <a:stCxn id="6" idx="2"/>
            <a:endCxn id="7" idx="0"/>
          </p:cNvCxnSpPr>
          <p:nvPr/>
        </p:nvCxnSpPr>
        <p:spPr>
          <a:xfrm>
            <a:off x="6095998" y="3463289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du:arrow" descr="{&quot;edu_ppt&quot;: {&quot;id&quot;: &quot;S03/visual/edge/2&quot;, &quot;start&quot;: &quot;visual/node/2&quot;, &quot;end&quot;: &quot;visual/node/3&quot;}}"/>
          <p:cNvCxnSpPr>
            <a:stCxn id="7" idx="2"/>
            <a:endCxn id="8" idx="0"/>
          </p:cNvCxnSpPr>
          <p:nvPr/>
        </p:nvCxnSpPr>
        <p:spPr>
          <a:xfrm>
            <a:off x="6095998" y="4512563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u:caption" descr="{&quot;edu_ppt&quot;: {&quot;id&quot;: &quot;S03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普通班；按班级分配。最后测验闭卷、无电脑，题目概念相近。</a:t>
            </a:r>
          </a:p>
        </p:txBody>
      </p:sp>
      <p:sp>
        <p:nvSpPr>
          <p:cNvPr id="13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Experimental Design；脚注#</a:t>
            </a:r>
          </a:p>
        </p:txBody>
      </p:sp>
      <p:sp>
        <p:nvSpPr>
          <p:cNvPr id="14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两种AI帮助，改变的不只一条提示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GPT Tutor同时加入不给完整答案的要求，以及教师提供的题目知识。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871"/>
                <a:gridCol w="8319007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练习资源与处理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教材、笔记；无AI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教材、笔记＋常规GPT-4聊天帮助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教材、笔记＋分步提示；教师解答、错误与反馈信息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Tutor的教学护栏与题目信息一起改变，未单独操纵各成分。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Experimental Design；图1；脚注†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5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练习收益没有转成独立测验收益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5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短期独立测验：GPT Base下降；GPT Tutor未检出明确的正向收益。</a:t>
            </a:r>
          </a:p>
        </p:txBody>
      </p:sp>
      <p:graphicFrame>
        <p:nvGraphicFramePr>
          <p:cNvPr id="5" name="edu:table" descr="{&quot;edu_ppt&quot;: {&quot;id&quot;: &quot;S05/visual/table&quot;}}"/>
          <p:cNvGraphicFramePr>
            <a:graphicFrameLocks noGrp="1"/>
          </p:cNvGraphicFramePr>
          <p:nvPr/>
        </p:nvGraphicFramePr>
        <p:xfrm>
          <a:off x="670559" y="1657350"/>
          <a:ext cx="10850877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3616959"/>
                <a:gridCol w="3616959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相对对照组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辅助练习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无辅助测验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+0.137** (0.031)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−0.054* (0.022)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+0.361** (0.032)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−0.004 (0.013)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对照均值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0.284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0.321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5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分数0–1；ITT估计（班级聚类SE）；* p&lt;.05，** p&lt;.01；未显著不代表等效。</a:t>
            </a:r>
          </a:p>
        </p:txBody>
      </p:sp>
      <p:sp>
        <p:nvSpPr>
          <p:cNvPr id="7" name="edu:source" descr="{&quot;edu_ppt&quot;: {&quot;id&quot;: &quot;S05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Main Results；表1</a:t>
            </a:r>
          </a:p>
        </p:txBody>
      </p:sp>
      <p:sp>
        <p:nvSpPr>
          <p:cNvPr id="8" name="edu:number" descr="{&quot;edu_ppt&quot;: {&quot;id&quot;: &quot;S05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6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互动记录支持“依赖现成解答”的解释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6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作者的“拐杖”解释有过程依据，具体机制尚未被单独识别。</a:t>
            </a:r>
          </a:p>
        </p:txBody>
      </p:sp>
      <p:graphicFrame>
        <p:nvGraphicFramePr>
          <p:cNvPr id="5" name="edu:table" descr="{&quot;edu_ppt&quot;: {&quot;id&quot;: &quot;S06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567"/>
                <a:gridCol w="7957311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作者报告的互动内容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常直接请求答案或重述题目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更多请求帮助、尝试作答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6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未单独操纵：依赖解答、反馈准确性与其他交互特点。</a:t>
            </a:r>
          </a:p>
        </p:txBody>
      </p:sp>
      <p:sp>
        <p:nvSpPr>
          <p:cNvPr id="7" name="edu:source" descr="{&quot;edu_ppt&quot;: {&quot;id&quot;: &quot;S06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Potential Mechanism；表2；图3</a:t>
            </a:r>
          </a:p>
        </p:txBody>
      </p:sp>
      <p:sp>
        <p:nvSpPr>
          <p:cNvPr id="8" name="edu:number" descr="{&quot;edu_ppt&quot;: {&quot;id&quot;: &quot;S06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7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学习感受也不能替代独立测验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7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作者报告：学生对学习或表现的自我判断，比实际测验结果乐观。</a:t>
            </a:r>
          </a:p>
        </p:txBody>
      </p:sp>
      <p:graphicFrame>
        <p:nvGraphicFramePr>
          <p:cNvPr id="5" name="edu:table" descr="{&quot;edu_ppt&quot;: {&quot;id&quot;: &quot;S07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306"/>
                <a:gridCol w="3014133"/>
                <a:gridCol w="5425439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独立测验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学生自我感受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低于对照组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未感到学得更少或表现更差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未检出收益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认为表现更好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7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学生自我感受与独立表现是两种不同的评价信息。</a:t>
            </a:r>
          </a:p>
        </p:txBody>
      </p:sp>
      <p:sp>
        <p:nvSpPr>
          <p:cNvPr id="7" name="edu:source" descr="{&quot;edu_ppt&quot;: {&quot;id&quot;: &quot;S07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Main Results：Student Perception</a:t>
            </a:r>
          </a:p>
        </p:txBody>
      </p:sp>
      <p:sp>
        <p:nvSpPr>
          <p:cNvPr id="8" name="edu:number" descr="{&quot;edu_ppt&quot;: {&quot;id&quot;: &quot;S07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8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部署时，应把独立能力留在评价中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8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保留作者的教学判断：需要学习护栏，也需要检验护栏留下了什么能力。</a:t>
            </a:r>
          </a:p>
        </p:txBody>
      </p:sp>
      <p:sp>
        <p:nvSpPr>
          <p:cNvPr id="5" name="edu:body" descr="{&quot;edu_ppt&quot;: {&quot;id&quot;: &quot;S08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评价：辅助任务与独立任务并列；学习感受另看。</a:t>
            </a:r>
          </a:p>
        </p:txBody>
      </p:sp>
      <p:sp>
        <p:nvSpPr>
          <p:cNvPr id="6" name="edu:body" descr="{&quot;edu_ppt&quot;: {&quot;id&quot;: &quot;S08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设计：支持学生尝试推理，并计入教师材料准备成本。</a:t>
            </a:r>
          </a:p>
        </p:txBody>
      </p:sp>
      <p:sp>
        <p:nvSpPr>
          <p:cNvPr id="7" name="edu:body" descr="{&quot;edu_ppt&quot;: {&quot;id&quot;: &quot;S08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范围：单校数学复习、短期测验、2023年模型。</a:t>
            </a:r>
          </a:p>
        </p:txBody>
      </p:sp>
      <p:sp>
        <p:nvSpPr>
          <p:cNvPr id="8" name="edu:body" descr="{&quot;edu_ppt&quot;: {&quot;id&quot;: &quot;S08/body/3&quot;}}"/>
          <p:cNvSpPr txBox="1"/>
          <p:nvPr/>
        </p:nvSpPr>
        <p:spPr>
          <a:xfrm>
            <a:off x="670559" y="3605022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下一步：主动诊断与追问仍是待验证的设计方向。</a:t>
            </a:r>
          </a:p>
        </p:txBody>
      </p:sp>
      <p:sp>
        <p:nvSpPr>
          <p:cNvPr id="9" name="edu:source" descr="{&quot;edu_ppt&quot;: {&quot;id&quot;: &quot;S08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Discussion；Experimental Design</a:t>
            </a:r>
          </a:p>
        </p:txBody>
      </p:sp>
      <p:sp>
        <p:nvSpPr>
          <p:cNvPr id="10" name="edu:number" descr="{&quot;edu_ppt&quot;: {&quot;id&quot;: &quot;S08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9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一句话收尾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9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辅助练习做得更好，并不自动意味着学生独立解题更好。</a:t>
            </a:r>
          </a:p>
        </p:txBody>
      </p:sp>
      <p:sp>
        <p:nvSpPr>
          <p:cNvPr id="5" name="edu:body" descr="{&quot;edu_ppt&quot;: {&quot;id&quot;: &quot;S09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Bastani、Bastani、Sungu、Ge、Kabakcı与Mariman（2025）</a:t>
            </a:r>
          </a:p>
        </p:txBody>
      </p:sp>
      <p:sp>
        <p:nvSpPr>
          <p:cNvPr id="6" name="edu:body" descr="{&quot;edu_ppt&quot;: {&quot;id&quot;: &quot;S09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PNAS, 122(26), e2422633122</a:t>
            </a:r>
          </a:p>
        </p:txBody>
      </p:sp>
      <p:sp>
        <p:nvSpPr>
          <p:cNvPr id="7" name="edu:body" descr="{&quot;edu_ppt&quot;: {&quot;id&quot;: &quot;S09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原文 DOI：10.1073/pnas.2422633122</a:t>
            </a:r>
          </a:p>
        </p:txBody>
      </p:sp>
      <p:sp>
        <p:nvSpPr>
          <p:cNvPr id="8" name="edu:body" descr="{&quot;edu_ppt&quot;: {&quot;id&quot;: &quot;S09/body/3&quot;}}"/>
          <p:cNvSpPr txBox="1"/>
          <p:nvPr/>
        </p:nvSpPr>
        <p:spPr>
          <a:xfrm>
            <a:off x="670559" y="3605022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更正 DOI：10.1073/pnas.2518204122</a:t>
            </a:r>
          </a:p>
        </p:txBody>
      </p:sp>
      <p:sp>
        <p:nvSpPr>
          <p:cNvPr id="9" name="edu:source" descr="{&quot;edu_ppt&quot;: {&quot;id&quot;: &quot;S09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Main Results；Discussion; PNAS更正，2025 · 更正正文</a:t>
            </a:r>
          </a:p>
        </p:txBody>
      </p:sp>
      <p:sp>
        <p:nvSpPr>
          <p:cNvPr id="10" name="edu:number" descr="{&quot;edu_ppt&quot;: {&quot;id&quot;: &quot;S09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工具帮助完成之后，学生学会了吗？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
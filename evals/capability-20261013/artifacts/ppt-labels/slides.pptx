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模拟试填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完整</c:v>
                </c:pt>
                <c:pt idx="1">
                  <c:v>待补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份（合成）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合成比例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</c:v>
                </c:pt>
                <c:pt idx="1">
                  <c:v>0.08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原始比例0–1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合成计数</c:v>
                </c:pt>
              </c:strCache>
            </c:strRef>
          </c:tx>
          <c:spPr>
            <a:solidFill>
              <a:srgbClr val="176B76"/>
            </a:solidFill>
          </c:spPr>
          <c:dLbls>
            <c:dLbl>
              <c:idx val="1"/>
              <c:numFmt formatCode="0.00" sourceLinked="0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: </c:separator>
            </c:dLbl>
            <c:numFmt formatCode="General" sourceLinked="0"/>
            <c:showLegendKey val="0"/>
            <c:showVal val="0"/>
            <c:showCatName val="1"/>
            <c:showSerName val="0"/>
            <c:showPercent val="0"/>
            <c:showBubbleSize val="0"/>
            <c:separator>
</c:separator>
            <c:showLeaderLines val="1"/>
          </c:dLbls>
          <c:cat>
            <c:strRef>
              <c:f>Sheet1!$A$2:$A$3</c:f>
              <c:strCache>
                <c:ptCount val="2"/>
                <c:pt idx="0">
                  <c:v>实验组</c:v>
                </c:pt>
                <c:pt idx="1">
                  <c:v>对照组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人（合成）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底层值12和8，默认标签分别显示12和8。本页为合成验证材料；汇报时按标签、坐标和原始数据之间的关系解释。</a:t>
            </a:r>
          </a:p>
          <a:p/>
          <a:p>
            <a:r>
              <a:t>来源：合成演示材料 · 合成标签与行对应验证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原值0.12和0.08显示为12.0%和8.0%。本页为合成验证材料；汇报时按标签、坐标和原始数据之间的关系解释。</a:t>
            </a:r>
          </a:p>
          <a:p/>
          <a:p>
            <a:r>
              <a:t>来源：合成演示材料 · 合成标签与行对应验证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第一点只写类别，第二点同时写类别和原值。本页为合成验证材料；汇报时按标签、坐标和原始数据之间的关系解释。</a:t>
            </a:r>
          </a:p>
          <a:p/>
          <a:p>
            <a:r>
              <a:t>来源：合成演示材料 · 合成标签与行对应验证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整行可移动；线和点不能移到另一个项目名称旁。本页为合成验证材料；汇报时按标签、坐标和原始数据之间的关系解释。</a:t>
            </a:r>
          </a:p>
          <a:p/>
          <a:p>
            <a:r>
              <a:t>来源：合成演示材料 · 合成标签与行对应验证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L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计数标签应当对应真实数值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L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底层值12和8，默认标签分别显示12和8。</a:t>
            </a:r>
          </a:p>
        </p:txBody>
      </p:sp>
      <p:graphicFrame>
        <p:nvGraphicFramePr>
          <p:cNvPr id="5" name="edu:chart" descr="{&quot;edu_ppt&quot;: {&quot;id&quot;: &quot;L01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source" descr="{&quot;edu_ppt&quot;: {&quot;id&quot;: &quot;L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合成标签与行对应验证</a:t>
            </a:r>
          </a:p>
        </p:txBody>
      </p:sp>
      <p:sp>
        <p:nvSpPr>
          <p:cNvPr id="7" name="edu:number" descr="{&quot;edu_ppt&quot;: {&quot;id&quot;: &quot;L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L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比例原值与百分比显示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L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原值0.12和0.08显示为12.0%和8.0%。</a:t>
            </a:r>
          </a:p>
        </p:txBody>
      </p:sp>
      <p:graphicFrame>
        <p:nvGraphicFramePr>
          <p:cNvPr id="5" name="edu:chart" descr="{&quot;edu_ppt&quot;: {&quot;id&quot;: &quot;L02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L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数据标签用百分比，原始数值未乘100存储。</a:t>
            </a:r>
          </a:p>
        </p:txBody>
      </p:sp>
      <p:sp>
        <p:nvSpPr>
          <p:cNvPr id="7" name="edu:source" descr="{&quot;edu_ppt&quot;: {&quot;id&quot;: &quot;L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合成标签与行对应验证</a:t>
            </a:r>
          </a:p>
        </p:txBody>
      </p:sp>
      <p:sp>
        <p:nvSpPr>
          <p:cNvPr id="8" name="edu:number" descr="{&quot;edu_ppt&quot;: {&quot;id&quot;: &quot;L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L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标签内容可以按解释需要选择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L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第一点只写类别，第二点同时写类别和原值。</a:t>
            </a:r>
          </a:p>
        </p:txBody>
      </p:sp>
      <p:graphicFrame>
        <p:nvGraphicFramePr>
          <p:cNvPr id="5" name="edu:chart" descr="{&quot;edu_ppt&quot;: {&quot;id&quot;: &quot;L03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source" descr="{&quot;edu_ppt&quot;: {&quot;id&quot;: &quot;L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合成标签与行对应验证</a:t>
            </a:r>
          </a:p>
        </p:txBody>
      </p:sp>
      <p:sp>
        <p:nvSpPr>
          <p:cNvPr id="7" name="edu:number" descr="{&quot;edu_ppt&quot;: {&quot;id&quot;: &quot;L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L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项目名称与区间保持逐行对应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L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整行可移动；线和点不能移到另一个项目名称旁。</a:t>
            </a:r>
          </a:p>
        </p:txBody>
      </p:sp>
      <p:cxnSp>
        <p:nvCxnSpPr>
          <p:cNvPr id="5" name="edu:line" descr="{&quot;edu_ppt&quot;: {&quot;id&quot;: &quot;L04/visual/reference&quot;, &quot;value&quot;: 0}}"/>
          <p:cNvCxnSpPr/>
          <p:nvPr/>
        </p:nvCxnSpPr>
        <p:spPr>
          <a:xfrm>
            <a:off x="5191759" y="1657350"/>
            <a:ext cx="0" cy="164592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L04/visual/axis-line&quot;, &quot;range&quot;: [-0.5, 1], &quot;scale&quot;: &quot;linear&quot;, &quot;unit&quot;: &quot;合成差值&quot;}}"/>
          <p:cNvCxnSpPr/>
          <p:nvPr/>
        </p:nvCxnSpPr>
        <p:spPr>
          <a:xfrm>
            <a:off x="3817314" y="332155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L04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甲项目</a:t>
            </a:r>
          </a:p>
        </p:txBody>
      </p:sp>
      <p:cxnSp>
        <p:nvCxnSpPr>
          <p:cNvPr id="8" name="edu:line" descr="{&quot;edu_ppt&quot;: {&quot;id&quot;: &quot;L04/visual/row/0/interval&quot;, &quot;low&quot;: -0.1, &quot;high&quot;: 0.5}}"/>
          <p:cNvCxnSpPr/>
          <p:nvPr/>
        </p:nvCxnSpPr>
        <p:spPr>
          <a:xfrm>
            <a:off x="4916870" y="2068830"/>
            <a:ext cx="1649334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L04/visual/row/0/estimate&quot;, &quot;value&quot;: 0.2}}"/>
          <p:cNvSpPr/>
          <p:nvPr/>
        </p:nvSpPr>
        <p:spPr>
          <a:xfrm>
            <a:off x="5691245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L04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0.2 [-0.1, 0.5]</a:t>
            </a:r>
          </a:p>
        </p:txBody>
      </p:sp>
      <p:sp>
        <p:nvSpPr>
          <p:cNvPr id="11" name="edu:interval-label" descr="{&quot;edu_ppt&quot;: {&quot;id&quot;: &quot;L04/visual/row/1/label&quot;}}"/>
          <p:cNvSpPr txBox="1"/>
          <p:nvPr/>
        </p:nvSpPr>
        <p:spPr>
          <a:xfrm>
            <a:off x="670559" y="266319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乙项目</a:t>
            </a:r>
          </a:p>
        </p:txBody>
      </p:sp>
      <p:cxnSp>
        <p:nvCxnSpPr>
          <p:cNvPr id="12" name="edu:line" descr="{&quot;edu_ppt&quot;: {&quot;id&quot;: &quot;L04/visual/row/1/interval&quot;, &quot;low&quot;: 0.2, &quot;high&quot;: 0.8}}"/>
          <p:cNvCxnSpPr/>
          <p:nvPr/>
        </p:nvCxnSpPr>
        <p:spPr>
          <a:xfrm>
            <a:off x="5741537" y="2891790"/>
            <a:ext cx="1649334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point" descr="{&quot;edu_ppt&quot;: {&quot;id&quot;: &quot;L04/visual/row/1/estimate&quot;, &quot;value&quot;: 0.5}}"/>
          <p:cNvSpPr/>
          <p:nvPr/>
        </p:nvSpPr>
        <p:spPr>
          <a:xfrm>
            <a:off x="6515912" y="284149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u:interval-value" descr="{&quot;edu_ppt&quot;: {&quot;id&quot;: &quot;L04/visual/row/1/display&quot;}}"/>
          <p:cNvSpPr txBox="1"/>
          <p:nvPr/>
        </p:nvSpPr>
        <p:spPr>
          <a:xfrm>
            <a:off x="8157666" y="266319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0.5 [0.2, 0.8]</a:t>
            </a:r>
          </a:p>
        </p:txBody>
      </p:sp>
      <p:sp>
        <p:nvSpPr>
          <p:cNvPr id="15" name="edu:axis" descr="{&quot;edu_ppt&quot;: {&quot;id&quot;: &quot;L04/visual/axis-label&quot;}}"/>
          <p:cNvSpPr txBox="1"/>
          <p:nvPr/>
        </p:nvSpPr>
        <p:spPr>
          <a:xfrm>
            <a:off x="3817314" y="334898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-0.5 ← 合成差值 → 1</a:t>
            </a:r>
          </a:p>
        </p:txBody>
      </p:sp>
      <p:sp>
        <p:nvSpPr>
          <p:cNvPr id="16" name="edu:reference-label" descr="{&quot;edu_ppt&quot;: {&quot;id&quot;: &quot;L04/visual/reference-label&quot;}}"/>
          <p:cNvSpPr txBox="1"/>
          <p:nvPr/>
        </p:nvSpPr>
        <p:spPr>
          <a:xfrm>
            <a:off x="670559" y="334898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7" name="edu:caption" descr="{&quot;edu_ppt&quot;: {&quot;id&quot;: &quot;L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仅为绘图与校验示例，数字不代表真实研究结果。</a:t>
            </a:r>
          </a:p>
        </p:txBody>
      </p:sp>
      <p:sp>
        <p:nvSpPr>
          <p:cNvPr id="18" name="edu:source" descr="{&quot;edu_ppt&quot;: {&quot;id&quot;: &quot;L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合成演示材料 · 合成标签与行对应验证</a:t>
            </a:r>
          </a:p>
        </p:txBody>
      </p:sp>
      <p:sp>
        <p:nvSpPr>
          <p:cNvPr id="19" name="edu:number" descr="{&quot;edu_ppt&quot;: {&quot;id&quot;: &quot;L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逐点标签与区间行对应：合成验证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
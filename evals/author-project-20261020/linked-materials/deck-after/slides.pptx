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干预组</c:v>
                </c:pt>
                <c:pt idx="1">
                  <c:v>对照组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60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两个阶段独立，不能把问卷有效人数作为随机样本数。</a:t>
            </a:r>
          </a:p>
          <a:p/>
          <a:p>
            <a:r>
              <a:t>来源：合成材料 · sample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干预组65.0%，对照组60.0%。</a:t>
            </a:r>
          </a:p>
          <a:p/>
          <a:p>
            <a:r>
              <a:t>来源：合成材料 · completion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未调整模型未排除无效应；调整模型仍不精确。</a:t>
            </a:r>
          </a:p>
          <a:p/>
          <a:p>
            <a:r>
              <a:t>来源：合成材料 · effect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ample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两阶段样本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ample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样本口径必须分开</a:t>
            </a:r>
          </a:p>
        </p:txBody>
      </p:sp>
      <p:sp>
        <p:nvSpPr>
          <p:cNvPr id="5" name="edu:body" descr="{&quot;edu_ppt&quot;: {&quot;id&quot;: &quot;sample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先导阶段 n=48；问卷 n=42</a:t>
            </a:r>
          </a:p>
        </p:txBody>
      </p:sp>
      <p:sp>
        <p:nvSpPr>
          <p:cNvPr id="6" name="edu:body" descr="{&quot;edu_ppt&quot;: {&quot;id&quot;: &quot;sample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正式试验 n=240；问卷 n=196</a:t>
            </a:r>
          </a:p>
        </p:txBody>
      </p:sp>
      <p:sp>
        <p:nvSpPr>
          <p:cNvPr id="7" name="edu:source" descr="{&quot;edu_ppt&quot;: {&quot;id&quot;: &quot;sample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合成材料 · sample</a:t>
            </a:r>
          </a:p>
        </p:txBody>
      </p:sp>
      <p:sp>
        <p:nvSpPr>
          <p:cNvPr id="8" name="edu:number" descr="{&quot;edu_ppt&quot;: {&quot;id&quot;: &quot;sample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completion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正式试验课程完成率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completion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8周课程完成</a:t>
            </a:r>
          </a:p>
        </p:txBody>
      </p:sp>
      <p:sp>
        <p:nvSpPr>
          <p:cNvPr id="5" name="edu:body" descr="{&quot;edu_ppt&quot;: {&quot;id&quot;: &quot;completion/body/0&quot;}}"/>
          <p:cNvSpPr txBox="1"/>
          <p:nvPr/>
        </p:nvSpPr>
        <p:spPr>
          <a:xfrm>
            <a:off x="670559" y="1657350"/>
            <a:ext cx="3906316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干预组65.0%；对照组60.0%</a:t>
            </a:r>
          </a:p>
        </p:txBody>
      </p:sp>
      <p:graphicFrame>
        <p:nvGraphicFramePr>
          <p:cNvPr id="6" name="edu:chart" descr="{&quot;edu_ppt&quot;: {&quot;id&quot;: &quot;completion/visual/chart&quot;, &quot;series_colors&quot;: [&quot;176B76&quot;]}}"/>
          <p:cNvGraphicFramePr>
            <a:graphicFrameLocks noGrp="1"/>
          </p:cNvGraphicFramePr>
          <p:nvPr/>
        </p:nvGraphicFramePr>
        <p:xfrm>
          <a:off x="5010911" y="1657350"/>
          <a:ext cx="6510527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edu:source" descr="{&quot;edu_ppt&quot;: {&quot;id&quot;: &quot;completion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合成材料 · completion</a:t>
            </a:r>
          </a:p>
        </p:txBody>
      </p:sp>
      <p:sp>
        <p:nvSpPr>
          <p:cNvPr id="8" name="edu:number" descr="{&quot;edu_ppt&quot;: {&quot;id&quot;: &quot;completion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effect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未调整风险比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effect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区间包含无效应参考值1</a:t>
            </a:r>
          </a:p>
        </p:txBody>
      </p:sp>
      <p:sp>
        <p:nvSpPr>
          <p:cNvPr id="5" name="edu:body" descr="{&quot;edu_ppt&quot;: {&quot;id&quot;: &quot;effect/body/0&quot;}}"/>
          <p:cNvSpPr txBox="1"/>
          <p:nvPr/>
        </p:nvSpPr>
        <p:spPr>
          <a:xfrm>
            <a:off x="670559" y="1657350"/>
            <a:ext cx="3906316" cy="77317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RR=1.083333; 95%CI=[0.890141,1.318456]</a:t>
            </a:r>
          </a:p>
        </p:txBody>
      </p:sp>
      <p:graphicFrame>
        <p:nvGraphicFramePr>
          <p:cNvPr id="6" name="edu:table" descr="{&quot;edu_ppt&quot;: {&quot;id&quot;: &quot;effect/visual/table&quot;}}"/>
          <p:cNvGraphicFramePr>
            <a:graphicFrameLocks noGrp="1"/>
          </p:cNvGraphicFramePr>
          <p:nvPr/>
        </p:nvGraphicFramePr>
        <p:xfrm>
          <a:off x="5010911" y="1657350"/>
          <a:ext cx="6510526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5263"/>
                <a:gridCol w="3255263"/>
              </a:tblGrid>
              <a:tr h="217170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RR及95%CI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2171700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调整模型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1.12 [0.93,1.35]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7" name="edu:source" descr="{&quot;edu_ppt&quot;: {&quot;id&quot;: &quot;effect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合成材料 · effect</a:t>
            </a:r>
          </a:p>
        </p:txBody>
      </p:sp>
      <p:sp>
        <p:nvSpPr>
          <p:cNvPr id="8" name="edu:number" descr="{&quot;edu_ppt&quot;: {&quot;id&quot;: &quot;effect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同伴反馈课程：两阶段研究（合成）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
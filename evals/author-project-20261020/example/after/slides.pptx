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Intervention</c:v>
                </c:pt>
              </c:strCache>
            </c:strRef>
          </c:tx>
          <c:spPr>
            <a:solidFill>
              <a:srgbClr val="176B76"/>
            </a:solidFill>
          </c:spPr>
          <c:cat>
            <c:strRef>
              <c:f>Sheet1!$A$2:$A$3</c:f>
              <c:strCache>
                <c:ptCount val="2"/>
                <c:pt idx="0">
                  <c:v>Pre</c:v>
                </c:pt>
                <c:pt idx="1">
                  <c:v>Post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Comparison</c:v>
                </c:pt>
              </c:strCache>
            </c:strRef>
          </c:tx>
          <c:spPr>
            <a:solidFill>
              <a:srgbClr val="C46B16"/>
            </a:solidFill>
          </c:spPr>
          <c:cat>
            <c:strRef>
              <c:f>Sheet1!$A$2:$A$3</c:f>
              <c:strCache>
                <c:ptCount val="2"/>
                <c:pt idx="0">
                  <c:v>Pre</c:v>
                </c:pt>
                <c:pt idx="1">
                  <c:v>Post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</c:v>
                </c:pt>
                <c:pt idx="1">
                  <c:v>14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
</c:separator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score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5.0"/>
      </c:valAx>
    </c:plotArea>
    <c:legend>
      <c:legendPos val="b"/>
      <c:overlay val="0"/>
    </c:legend>
    <c:dispBlanksAs val="gap"/>
  </c:chart>
  <c:txPr>
    <a:bodyPr/>
    <a:lstStyle/>
    <a:p>
      <a:pPr>
        <a:defRPr sz="17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 scores: intervention 16, comparison 14. These are synthetic validation data, not a real educational finding.</a:t>
            </a:r>
          </a:p>
          <a:p/>
          <a:p>
            <a:r>
              <a:t>来源：Synthetic · GROUPS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Adjusted difference: 0.006 [-0.002, 0.014]. These are synthetic validation data, not a real educational finding.</a:t>
            </a:r>
          </a:p>
          <a:p/>
          <a:p>
            <a:r>
              <a:t>来源：Synthetic · INTERVAL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enrolled and analyzed populations differ. These are synthetic validation data, not a real educational finding.</a:t>
            </a:r>
          </a:p>
          <a:p/>
          <a:p>
            <a:r>
              <a:t>来源：Synthetic · SAMPLE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GROUPS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Groups at two measurement points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GROUPS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Post scores: intervention 16, comparison 14.</a:t>
            </a:r>
          </a:p>
        </p:txBody>
      </p:sp>
      <p:graphicFrame>
        <p:nvGraphicFramePr>
          <p:cNvPr id="5" name="edu:chart" descr="{&quot;edu_ppt&quot;: {&quot;id&quot;: &quot;GROUPS/visual/chart&quot;, &quot;series_colors&quot;: [&quot;176B76&quot;, &quot;C46B16&quot;]}}"/>
          <p:cNvGraphicFramePr>
            <a:graphicFrameLocks noGrp="1"/>
          </p:cNvGraphicFramePr>
          <p:nvPr/>
        </p:nvGraphicFramePr>
        <p:xfrm>
          <a:off x="670559" y="1657350"/>
          <a:ext cx="10850879" cy="390448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edu:caption" descr="{&quot;edu_ppt&quot;: {&quot;id&quot;: &quot;GROUPS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Synthetic values; no real intervention conclusion.</a:t>
            </a:r>
          </a:p>
        </p:txBody>
      </p:sp>
      <p:sp>
        <p:nvSpPr>
          <p:cNvPr id="7" name="edu:source" descr="{&quot;edu_ppt&quot;: {&quot;id&quot;: &quot;GROUPS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Synthetic · GROUPS</a:t>
            </a:r>
          </a:p>
        </p:txBody>
      </p:sp>
      <p:sp>
        <p:nvSpPr>
          <p:cNvPr id="8" name="edu:number" descr="{&quot;edu_ppt&quot;: {&quot;id&quot;: &quot;GROUPS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INTERVAL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An estimate and its uncertainty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INTERVAL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Adjusted difference: 0.006 [-0.002, 0.014].</a:t>
            </a:r>
          </a:p>
        </p:txBody>
      </p:sp>
      <p:cxnSp>
        <p:nvCxnSpPr>
          <p:cNvPr id="5" name="edu:line" descr="{&quot;edu_ppt&quot;: {&quot;id&quot;: &quot;INTERVAL/visual/reference&quot;, &quot;value&quot;: 0}}"/>
          <p:cNvCxnSpPr/>
          <p:nvPr/>
        </p:nvCxnSpPr>
        <p:spPr>
          <a:xfrm>
            <a:off x="4641981" y="1657350"/>
            <a:ext cx="0" cy="822960"/>
          </a:xfrm>
          <a:prstGeom prst="line">
            <a:avLst/>
          </a:prstGeom>
          <a:ln w="12700">
            <a:solidFill>
              <a:srgbClr val="51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du:line" descr="{&quot;edu_ppt&quot;: {&quot;id&quot;: &quot;INTERVAL/visual/axis-line&quot;, &quot;range&quot;: [-0.005, 0.02], &quot;scale&quot;: &quot;linear&quot;, &quot;unit&quot;: &quot;score&quot;}}"/>
          <p:cNvCxnSpPr/>
          <p:nvPr/>
        </p:nvCxnSpPr>
        <p:spPr>
          <a:xfrm>
            <a:off x="3817314" y="2498598"/>
            <a:ext cx="4123334" cy="0"/>
          </a:xfrm>
          <a:prstGeom prst="line">
            <a:avLst/>
          </a:prstGeom>
          <a:ln w="12700">
            <a:solidFill>
              <a:srgbClr val="51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du:interval-label" descr="{&quot;edu_ppt&quot;: {&quot;id&quot;: &quot;INTERVAL/visual/row/0/label&quot;}}"/>
          <p:cNvSpPr txBox="1"/>
          <p:nvPr/>
        </p:nvSpPr>
        <p:spPr>
          <a:xfrm>
            <a:off x="670559" y="1840230"/>
            <a:ext cx="3038246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Adjusted difference</a:t>
            </a:r>
          </a:p>
        </p:txBody>
      </p:sp>
      <p:cxnSp>
        <p:nvCxnSpPr>
          <p:cNvPr id="8" name="edu:line" descr="{&quot;edu_ppt&quot;: {&quot;id&quot;: &quot;INTERVAL/visual/row/0/interval&quot;, &quot;low&quot;: -0.002, &quot;high&quot;: 0.014}}"/>
          <p:cNvCxnSpPr/>
          <p:nvPr/>
        </p:nvCxnSpPr>
        <p:spPr>
          <a:xfrm>
            <a:off x="4312114" y="2068830"/>
            <a:ext cx="2638934" cy="0"/>
          </a:xfrm>
          <a:prstGeom prst="line">
            <a:avLst/>
          </a:prstGeom>
          <a:ln w="381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u:point" descr="{&quot;edu_ppt&quot;: {&quot;id&quot;: &quot;INTERVAL/visual/row/0/estimate&quot;, &quot;value&quot;: 0.006}}"/>
          <p:cNvSpPr/>
          <p:nvPr/>
        </p:nvSpPr>
        <p:spPr>
          <a:xfrm>
            <a:off x="5581289" y="2018538"/>
            <a:ext cx="100584" cy="100584"/>
          </a:xfrm>
          <a:prstGeom prst="ellipse">
            <a:avLst/>
          </a:prstGeom>
          <a:solidFill>
            <a:srgbClr val="17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u:interval-value" descr="{&quot;edu_ppt&quot;: {&quot;id&quot;: &quot;INTERVAL/visual/row/0/display&quot;}}"/>
          <p:cNvSpPr txBox="1"/>
          <p:nvPr/>
        </p:nvSpPr>
        <p:spPr>
          <a:xfrm>
            <a:off x="8157666" y="1840230"/>
            <a:ext cx="3363772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0.006 [-0.002, 0.014]</a:t>
            </a:r>
          </a:p>
        </p:txBody>
      </p:sp>
      <p:sp>
        <p:nvSpPr>
          <p:cNvPr id="11" name="edu:axis" descr="{&quot;edu_ppt&quot;: {&quot;id&quot;: &quot;INTERVAL/visual/axis-label&quot;}}"/>
          <p:cNvSpPr txBox="1"/>
          <p:nvPr/>
        </p:nvSpPr>
        <p:spPr>
          <a:xfrm>
            <a:off x="3817314" y="2526029"/>
            <a:ext cx="4123334" cy="41148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-0.005 ← score → 0.02</a:t>
            </a:r>
          </a:p>
        </p:txBody>
      </p:sp>
      <p:sp>
        <p:nvSpPr>
          <p:cNvPr id="12" name="edu:reference-label" descr="{&quot;edu_ppt&quot;: {&quot;id&quot;: &quot;INTERVAL/visual/reference-label&quot;}}"/>
          <p:cNvSpPr txBox="1"/>
          <p:nvPr/>
        </p:nvSpPr>
        <p:spPr>
          <a:xfrm>
            <a:off x="670559" y="2526029"/>
            <a:ext cx="3038246" cy="41148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参考值 = 0</a:t>
            </a:r>
          </a:p>
        </p:txBody>
      </p:sp>
      <p:sp>
        <p:nvSpPr>
          <p:cNvPr id="13" name="edu:caption" descr="{&quot;edu_ppt&quot;: {&quot;id&quot;: &quot;INTERVAL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Synthetic interval.</a:t>
            </a:r>
          </a:p>
        </p:txBody>
      </p:sp>
      <p:sp>
        <p:nvSpPr>
          <p:cNvPr id="14" name="edu:source" descr="{&quot;edu_ppt&quot;: {&quot;id&quot;: &quot;INTERVAL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Synthetic · INTERVAL</a:t>
            </a:r>
          </a:p>
        </p:txBody>
      </p:sp>
      <p:sp>
        <p:nvSpPr>
          <p:cNvPr id="15" name="edu:number" descr="{&quot;edu_ppt&quot;: {&quot;id&quot;: &quot;INTERVAL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AMPLE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Enrollment and analysis sample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AMPLE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The enrolled and analyzed populations differ.</a:t>
            </a:r>
          </a:p>
        </p:txBody>
      </p:sp>
      <p:graphicFrame>
        <p:nvGraphicFramePr>
          <p:cNvPr id="5" name="edu:table" descr="{&quot;edu_ppt&quot;: {&quot;id&quot;: &quot;SAMPLE/visual/table&quot;}}"/>
          <p:cNvGraphicFramePr>
            <a:graphicFrameLocks noGrp="1"/>
          </p:cNvGraphicFramePr>
          <p:nvPr/>
        </p:nvGraphicFramePr>
        <p:xfrm>
          <a:off x="670559" y="1657350"/>
          <a:ext cx="10850878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5439"/>
                <a:gridCol w="5425439"/>
              </a:tblGrid>
              <a:tr h="1301495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Population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1301495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Enrolled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410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1301497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Analysis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382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AMPLE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Synthetic sample flow.</a:t>
            </a:r>
          </a:p>
        </p:txBody>
      </p:sp>
      <p:sp>
        <p:nvSpPr>
          <p:cNvPr id="7" name="edu:source" descr="{&quot;edu_ppt&quot;: {&quot;id&quot;: &quot;SAMPLE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Synthetic · SAMPLE</a:t>
            </a:r>
          </a:p>
        </p:txBody>
      </p:sp>
      <p:sp>
        <p:nvSpPr>
          <p:cNvPr id="8" name="edu:number" descr="{&quot;edu_ppt&quot;: {&quot;id&quot;: &quot;SAMPLE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material-update example</dc:title>
  <dc:subject>Education research presentation; source-linked plan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